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261" r:id="rId3"/>
    <p:sldId id="325" r:id="rId4"/>
    <p:sldId id="375" r:id="rId5"/>
    <p:sldId id="353" r:id="rId6"/>
    <p:sldId id="354" r:id="rId7"/>
    <p:sldId id="368" r:id="rId8"/>
    <p:sldId id="376" r:id="rId9"/>
    <p:sldId id="369" r:id="rId10"/>
    <p:sldId id="377" r:id="rId11"/>
    <p:sldId id="378" r:id="rId12"/>
  </p:sldIdLst>
  <p:sldSz cx="9144000" cy="5143500" type="screen16x9"/>
  <p:notesSz cx="6858000" cy="9144000"/>
  <p:embeddedFontLst>
    <p:embeddedFont>
      <p:font typeface="Comfortaa" panose="020B0604020202020204" charset="0"/>
      <p:regular r:id="rId14"/>
      <p:bold r:id="rId15"/>
    </p:embeddedFont>
    <p:embeddedFont>
      <p:font typeface="Fira Code" panose="020B0809050000020004" pitchFamily="49" charset="0"/>
      <p:regular r:id="rId16"/>
      <p:bold r:id="rId17"/>
    </p:embeddedFont>
    <p:embeddedFont>
      <p:font typeface="Source Code Pro" panose="020B030903040302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F9ABEB-4590-4420-9E09-107500E5C6D5}">
  <a:tblStyle styleId="{6BF9ABEB-4590-4420-9E09-107500E5C6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3683A9-DA97-4C60-9935-5F6DAABC24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23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3DD61FF4-00ED-F2C0-A457-E280E15D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B77BD39F-E974-1CA6-205B-C28455A09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76536CB0-ABC0-5D44-B054-F30F3BF23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87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7CB1077B-5131-19A7-EA83-777667ED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B6B62B9B-982A-0133-57AA-644434A82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6106B1D2-38CC-D525-4C6B-AF90404A4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02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76B92703-8CF3-E76F-2D01-A5A8730B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B12A3993-DCD1-4703-2311-A3D0341CD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58B48305-6FA8-E951-8FBA-24BC102B8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37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41929D15-614A-5BED-5BE6-AAEE5486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C12EB9BA-C2E9-1850-185F-F622FF164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624D1256-3B85-6A81-A232-DFF8D3C0C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772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E466D61C-7111-B4A5-DB3C-9B3F4449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6A756FA7-F2B8-B944-A543-F203BF3E0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88702DDF-4649-3AED-79C6-13296C594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227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74379907-289F-8B13-E1E7-24BB7635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18B1537D-7C2C-03A7-5AF0-5A83C66B5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F1DB9472-DDC2-9CF5-C8B6-866A912ED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520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05452B3-D58C-248F-6DED-902C6944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9E3E7914-9D49-C8CD-D492-DE27F73FA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93063329-477C-56B3-ABE1-57E072A0E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52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37673533-D9B2-80AE-53EF-26A91D43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DBDD86AE-B04A-ADA4-B7F7-980C67A11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075B837A-2D34-EE09-B6A2-0C6A1D9A8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548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54AADAA7-CDB1-1D69-2243-685E7988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391162A6-B3FC-D903-9739-0D2585708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C0C8DFFA-BCC9-0370-9427-FA467B1AF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03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5500" y="3297650"/>
            <a:ext cx="5797500" cy="440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7775" y="-1800"/>
            <a:ext cx="9144000" cy="116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8389787" y="179931"/>
            <a:ext cx="486393" cy="125690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4424750" y="-1800"/>
            <a:ext cx="47193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8193116" y="446250"/>
            <a:ext cx="414956" cy="186500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5" r:id="rId3"/>
    <p:sldLayoutId id="2147483672" r:id="rId4"/>
    <p:sldLayoutId id="214748367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blic-apis/public-api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735500" y="1258850"/>
            <a:ext cx="5797500" cy="20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dirty="0"/>
              <a:t>Programação </a:t>
            </a:r>
            <a:br>
              <a:rPr lang="pt-BR" dirty="0"/>
            </a:br>
            <a:r>
              <a:rPr lang="pt-BR" dirty="0" err="1"/>
              <a:t>Frontend</a:t>
            </a:r>
            <a:br>
              <a:rPr lang="pt-BR" dirty="0"/>
            </a:br>
            <a:br>
              <a:rPr lang="pt-BR"/>
            </a:br>
            <a:r>
              <a:rPr lang="pt-BR"/>
              <a:t>Assincronismo e APIs</a:t>
            </a:r>
            <a:endParaRPr lang="pt-BR" noProof="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242" name="Google Shape;242;p31"/>
          <p:cNvSpPr txBox="1"/>
          <p:nvPr/>
        </p:nvSpPr>
        <p:spPr>
          <a:xfrm>
            <a:off x="2847375" y="4108415"/>
            <a:ext cx="14475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lang="pt-BR" sz="5000" noProof="0" dirty="0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8059900" y="446250"/>
            <a:ext cx="473100" cy="186500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  <p:sp>
        <p:nvSpPr>
          <p:cNvPr id="4" name="Google Shape;239;p31">
            <a:extLst>
              <a:ext uri="{FF2B5EF4-FFF2-40B4-BE49-F238E27FC236}">
                <a16:creationId xmlns:a16="http://schemas.microsoft.com/office/drawing/2014/main" id="{DF945BFB-F10F-6078-E38D-A5CD7E5B1C2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35500" y="3297649"/>
            <a:ext cx="5797500" cy="947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 </a:t>
            </a:r>
            <a:r>
              <a:rPr lang="pt-BR" sz="1400" dirty="0"/>
              <a:t>Prof. Flávio Belizário da Silva Mota</a:t>
            </a:r>
          </a:p>
          <a:p>
            <a:pPr algn="r"/>
            <a:r>
              <a:rPr lang="pt-BR" sz="1400" dirty="0"/>
              <a:t>Universidade do Vale do Sapucaí – UNIVAS</a:t>
            </a:r>
          </a:p>
          <a:p>
            <a:pPr algn="r"/>
            <a:r>
              <a:rPr lang="pt-BR" sz="1400" dirty="0"/>
              <a:t>Sistemas de Informação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170481" y="1443125"/>
            <a:ext cx="8772041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400" noProof="0" dirty="0"/>
              <a:t>Aplicações web não trabalham com dados fixos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2400" dirty="0"/>
              <a:t>Dados vêm de servidores externos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2400" dirty="0"/>
              <a:t>Aplicações são dinâmicas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2400" noProof="0" dirty="0"/>
              <a:t>Requisições dependem da internet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2400" noProof="0" dirty="0"/>
              <a:t>A resposta não é imediata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2400" dirty="0"/>
              <a:t>Não podemos “travar” a aplicação</a:t>
            </a:r>
            <a:endParaRPr lang="pt-BR" sz="2400" noProof="0" dirty="0"/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CA6C556D-003F-30CE-86D0-0FAA2A7F1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Aplicações WEB modernas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27A9DCA-1BFE-63C9-C013-5500458A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97A5237C-3106-1F03-0AC6-4FAF58D29F0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43999" y="1443125"/>
            <a:ext cx="7903315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O JS, por padrão, trabalha com execução linha a linha, com uma ordem previsível. Exemplo: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0" lvl="1" indent="0" algn="l"/>
            <a:r>
              <a:rPr lang="pt-BR" sz="1800" dirty="0"/>
              <a:t>console.log("A");</a:t>
            </a:r>
            <a:br>
              <a:rPr lang="pt-BR" sz="1800" dirty="0"/>
            </a:br>
            <a:r>
              <a:rPr lang="pt-BR" sz="1800" dirty="0"/>
              <a:t>console.log("B");</a:t>
            </a:r>
            <a:br>
              <a:rPr lang="pt-BR" sz="1800" dirty="0"/>
            </a:br>
            <a:r>
              <a:rPr lang="pt-BR" sz="1800" dirty="0"/>
              <a:t>console.log("C");</a:t>
            </a:r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CCCDB3B2-409B-976F-6225-AA410A32C07F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4DEDA544-DD5E-6792-A732-66093EB7AA08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A22D5A1C-66C6-193E-44D7-F39E5EAA4375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541A2EEC-9D8E-352D-DC87-9C8810C87F36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4A43E026-CA24-8891-F8A9-AEF2750EFF67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9CD82CFD-925F-A43F-C8AB-760F8E4BFBC8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A1C33250-8588-97E6-E25A-663924C6E99C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1276B19F-5796-F0AD-1B0C-FEE34AC67958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3AAEC27A-859A-0025-5438-8F5E88BB573C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C3BAC60D-EA8A-C9BE-8A0A-3E4A93FC09C4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49A0BE1F-341A-B655-97C5-0ABC321E2A2A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027CD268-3833-1CC6-6916-B787D0C5E318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99D01C2B-2139-82CD-4031-1F97406C9D8A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CDB5A406-FB11-9B73-E5F2-995ABAB82549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AD3C8207-34A2-2ADC-EDAC-5634DF2A1ACB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6863C2F4-149A-9096-188F-12B76AFA6B08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lang="pt-BR" sz="5000" noProof="0" dirty="0">
              <a:solidFill>
                <a:schemeClr val="accent2"/>
              </a:solidFill>
            </a:endParaRP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08717819-13B7-961C-ADAA-5D0D600D42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Execução síncrona</a:t>
            </a:r>
            <a:endParaRPr lang="pt-BR" noProof="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72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C43DDD6A-461B-B7E0-58A1-FFE312AA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1EA3AFBD-712B-BCD8-A73D-091ABA4077F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43999" y="1443125"/>
            <a:ext cx="7903315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Algumas funções dentro do JS permitem que comandos sejam rodados em paralelo. Nesse caso, o código não espera. Exemplo: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console.log("A");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 err="1"/>
              <a:t>setTimeout</a:t>
            </a:r>
            <a:r>
              <a:rPr lang="pt-BR" sz="1800" dirty="0"/>
              <a:t>(() =&gt; {</a:t>
            </a:r>
          </a:p>
          <a:p>
            <a:pPr marL="0" lvl="1" indent="0" algn="l"/>
            <a:r>
              <a:rPr lang="pt-BR" sz="1800" dirty="0"/>
              <a:t>    console.log("B");</a:t>
            </a:r>
          </a:p>
          <a:p>
            <a:pPr marL="0" lvl="1" indent="0" algn="l"/>
            <a:r>
              <a:rPr lang="pt-BR" sz="1800" dirty="0"/>
              <a:t>}, 2000);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dirty="0"/>
              <a:t>console.log("C");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09D7A9FE-D939-AC74-113C-587AD4B86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Execução assíncrona</a:t>
            </a:r>
            <a:endParaRPr lang="pt-BR" noProof="0" dirty="0">
              <a:solidFill>
                <a:schemeClr val="accent4"/>
              </a:solidFill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6F685A5-7C31-5DB9-CA49-93A9B235E275}"/>
              </a:ext>
            </a:extLst>
          </p:cNvPr>
          <p:cNvSpPr/>
          <p:nvPr/>
        </p:nvSpPr>
        <p:spPr>
          <a:xfrm>
            <a:off x="522514" y="3004457"/>
            <a:ext cx="3161212" cy="1140823"/>
          </a:xfrm>
          <a:prstGeom prst="roundRect">
            <a:avLst/>
          </a:prstGeom>
          <a:noFill/>
          <a:ln w="57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5C11C8D-61C7-CE3F-988D-8B69EF6B86AD}"/>
              </a:ext>
            </a:extLst>
          </p:cNvPr>
          <p:cNvCxnSpPr>
            <a:stCxn id="2" idx="3"/>
          </p:cNvCxnSpPr>
          <p:nvPr/>
        </p:nvCxnSpPr>
        <p:spPr>
          <a:xfrm flipV="1">
            <a:off x="3683726" y="3405051"/>
            <a:ext cx="1454331" cy="169818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9F80BB-60B1-5545-8214-BD6E118288C3}"/>
              </a:ext>
            </a:extLst>
          </p:cNvPr>
          <p:cNvSpPr txBox="1"/>
          <p:nvPr/>
        </p:nvSpPr>
        <p:spPr>
          <a:xfrm>
            <a:off x="5242560" y="2743331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O JS não espera o </a:t>
            </a:r>
            <a:r>
              <a:rPr lang="pt-BR" sz="2000" dirty="0" err="1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setTimeout</a:t>
            </a:r>
            <a:r>
              <a:rPr lang="pt-BR" sz="2000" dirty="0">
                <a:solidFill>
                  <a:schemeClr val="tx1"/>
                </a:solidFill>
                <a:latin typeface="Source Code Pro" panose="020B0309030403020204" pitchFamily="49" charset="0"/>
                <a:ea typeface="Source Code Pro" panose="020B0309030403020204" pitchFamily="49" charset="0"/>
              </a:rPr>
              <a:t>() para executar o próximo comando.</a:t>
            </a:r>
          </a:p>
        </p:txBody>
      </p:sp>
    </p:spTree>
    <p:extLst>
      <p:ext uri="{BB962C8B-B14F-4D97-AF65-F5344CB8AC3E}">
        <p14:creationId xmlns:p14="http://schemas.microsoft.com/office/powerpoint/2010/main" val="316135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281D7216-D558-C0F0-D0C8-40516381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96DCCC29-1EBB-F458-1577-BA4AE5CCF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1" y="0"/>
            <a:ext cx="80999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dirty="0">
                <a:solidFill>
                  <a:schemeClr val="accent4"/>
                </a:solidFill>
              </a:rPr>
              <a:t>APIs (</a:t>
            </a:r>
            <a:r>
              <a:rPr lang="pt-BR" dirty="0" err="1">
                <a:solidFill>
                  <a:schemeClr val="accent4"/>
                </a:solidFill>
              </a:rPr>
              <a:t>Application</a:t>
            </a:r>
            <a:r>
              <a:rPr lang="pt-BR" dirty="0">
                <a:solidFill>
                  <a:schemeClr val="accent4"/>
                </a:solidFill>
              </a:rPr>
              <a:t> </a:t>
            </a:r>
            <a:r>
              <a:rPr lang="pt-BR" dirty="0" err="1">
                <a:solidFill>
                  <a:schemeClr val="accent4"/>
                </a:solidFill>
              </a:rPr>
              <a:t>Programming</a:t>
            </a:r>
            <a:r>
              <a:rPr lang="pt-BR" dirty="0">
                <a:solidFill>
                  <a:schemeClr val="accent4"/>
                </a:solidFill>
              </a:rPr>
              <a:t> Interface)</a:t>
            </a:r>
            <a:endParaRPr lang="pt-BR" noProof="0" dirty="0">
              <a:solidFill>
                <a:schemeClr val="accent4"/>
              </a:solidFill>
            </a:endParaRPr>
          </a:p>
        </p:txBody>
      </p:sp>
      <p:sp>
        <p:nvSpPr>
          <p:cNvPr id="5" name="Google Shape;433;p36">
            <a:extLst>
              <a:ext uri="{FF2B5EF4-FFF2-40B4-BE49-F238E27FC236}">
                <a16:creationId xmlns:a16="http://schemas.microsoft.com/office/drawing/2014/main" id="{35953022-34C3-4B06-F936-E042C4AA6C58}"/>
              </a:ext>
            </a:extLst>
          </p:cNvPr>
          <p:cNvSpPr txBox="1">
            <a:spLocks/>
          </p:cNvSpPr>
          <p:nvPr/>
        </p:nvSpPr>
        <p:spPr>
          <a:xfrm>
            <a:off x="182880" y="1443125"/>
            <a:ext cx="4145280" cy="3364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API é uma interface que permite que um sistema forneça dados para outro.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Arquitetura Cliente-Servidor: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Cliente: interface (navegador, app)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Servidor: processa e fornece dados</a:t>
            </a:r>
          </a:p>
          <a:p>
            <a:pPr marL="635000" lvl="2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Comunicação via internet</a:t>
            </a:r>
          </a:p>
        </p:txBody>
      </p:sp>
      <p:pic>
        <p:nvPicPr>
          <p:cNvPr id="1026" name="Picture 2" descr="Material Didático - IMD">
            <a:extLst>
              <a:ext uri="{FF2B5EF4-FFF2-40B4-BE49-F238E27FC236}">
                <a16:creationId xmlns:a16="http://schemas.microsoft.com/office/drawing/2014/main" id="{3AA670D1-60DD-A81C-5620-FD8B955F2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788" y="1863635"/>
            <a:ext cx="4649475" cy="225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71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C14D720F-09C4-99A2-66C5-AC7E9160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6BC41803-1A65-A08E-B288-C9EEF27FE25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4503" y="1443125"/>
            <a:ext cx="8946508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 err="1"/>
              <a:t>PokeAPI</a:t>
            </a:r>
            <a:endParaRPr lang="pt-BR" sz="180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Open-</a:t>
            </a:r>
            <a:r>
              <a:rPr lang="pt-BR" sz="1800" dirty="0"/>
              <a:t>Meteo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Banco do Brasil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noProof="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noProof="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noProof="0" dirty="0"/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Lista de APIs abertas: </a:t>
            </a:r>
            <a:r>
              <a:rPr lang="pt-BR" sz="1800" dirty="0">
                <a:hlinkClick r:id="rId3"/>
              </a:rPr>
              <a:t>https://github.com/public-apis/public-apis</a:t>
            </a:r>
            <a:endParaRPr lang="pt-BR" sz="1800" dirty="0"/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8B74577A-DACE-B7B3-0FD6-E202D179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Exemplos de API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BB3E447-3C4F-4ADD-BE7D-1A57D9B820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20" t="4741" r="12045" b="9640"/>
          <a:stretch>
            <a:fillRect/>
          </a:stretch>
        </p:blipFill>
        <p:spPr>
          <a:xfrm>
            <a:off x="6071677" y="1170460"/>
            <a:ext cx="2979334" cy="14891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A173DC-0FFC-ECC9-C851-8BF4B308DE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489" y="2267140"/>
            <a:ext cx="2648479" cy="146832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84CD779-5FC0-B76F-ACC3-93BFFDF46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968" y="2894913"/>
            <a:ext cx="283884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8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6996E08F-5784-3FC9-E00C-8FCF1DBD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F328E6D3-F199-4333-8EDC-D297694F413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Geralmente, as respostas de uma chamada a API são retornadas em JSON.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dirty="0"/>
              <a:t>O JSON é um formato baseado em texto padrão para representar dados estruturados com base na sintaxe do objeto </a:t>
            </a:r>
            <a:r>
              <a:rPr lang="pt-BR" sz="1800" dirty="0" err="1"/>
              <a:t>JavaScript</a:t>
            </a:r>
            <a:r>
              <a:rPr lang="pt-BR" sz="1800" dirty="0"/>
              <a:t>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Obedece uma estrutura de chave-valor:</a:t>
            </a:r>
          </a:p>
          <a:p>
            <a:pPr marL="0" lvl="1" indent="0" algn="l"/>
            <a:endParaRPr lang="pt-BR" sz="1800" dirty="0"/>
          </a:p>
          <a:p>
            <a:pPr marL="0" lvl="1" indent="0" algn="l"/>
            <a:r>
              <a:rPr lang="pt-BR" sz="1800" noProof="0" dirty="0"/>
              <a:t>{</a:t>
            </a:r>
          </a:p>
          <a:p>
            <a:pPr marL="0" lvl="1" indent="0" algn="l"/>
            <a:r>
              <a:rPr lang="pt-BR" sz="1800" noProof="0" dirty="0"/>
              <a:t>  "</a:t>
            </a:r>
            <a:r>
              <a:rPr lang="pt-BR" sz="1800" noProof="0" dirty="0" err="1"/>
              <a:t>name</a:t>
            </a:r>
            <a:r>
              <a:rPr lang="pt-BR" sz="1800" noProof="0" dirty="0"/>
              <a:t>": "pikachu",</a:t>
            </a:r>
          </a:p>
          <a:p>
            <a:pPr marL="0" lvl="1" indent="0" algn="l"/>
            <a:r>
              <a:rPr lang="pt-BR" sz="1800" noProof="0" dirty="0"/>
              <a:t>  "</a:t>
            </a:r>
            <a:r>
              <a:rPr lang="pt-BR" sz="1800" noProof="0" dirty="0" err="1"/>
              <a:t>height</a:t>
            </a:r>
            <a:r>
              <a:rPr lang="pt-BR" sz="1800" noProof="0" dirty="0"/>
              <a:t>": 4</a:t>
            </a:r>
          </a:p>
          <a:p>
            <a:pPr marL="0" lvl="1" indent="0" algn="l"/>
            <a:r>
              <a:rPr lang="pt-BR" sz="1800" noProof="0" dirty="0"/>
              <a:t>}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86CD695A-5B78-D998-54E5-2B4E5C6F5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7178" y="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JSON (</a:t>
            </a:r>
            <a:r>
              <a:rPr lang="pt-BR" noProof="0" dirty="0" err="1">
                <a:solidFill>
                  <a:schemeClr val="accent4"/>
                </a:solidFill>
              </a:rPr>
              <a:t>JavaScript</a:t>
            </a:r>
            <a:r>
              <a:rPr lang="pt-BR" noProof="0" dirty="0">
                <a:solidFill>
                  <a:schemeClr val="accent4"/>
                </a:solidFill>
              </a:rPr>
              <a:t> </a:t>
            </a:r>
            <a:r>
              <a:rPr lang="pt-BR" noProof="0" dirty="0" err="1">
                <a:solidFill>
                  <a:schemeClr val="accent4"/>
                </a:solidFill>
              </a:rPr>
              <a:t>Object</a:t>
            </a:r>
            <a:r>
              <a:rPr lang="pt-BR" noProof="0" dirty="0">
                <a:solidFill>
                  <a:schemeClr val="accent4"/>
                </a:solidFill>
              </a:rPr>
              <a:t> </a:t>
            </a:r>
            <a:r>
              <a:rPr lang="pt-BR" noProof="0" dirty="0" err="1">
                <a:solidFill>
                  <a:schemeClr val="accent4"/>
                </a:solidFill>
              </a:rPr>
              <a:t>Notation</a:t>
            </a:r>
            <a:r>
              <a:rPr lang="pt-BR" noProof="0" dirty="0">
                <a:solidFill>
                  <a:schemeClr val="accent4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734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3D2BDD15-A9DB-4D33-67DC-57B89418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772A40EC-F4AB-7A66-9462-937DAC32872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1800" noProof="0" dirty="0"/>
              <a:t>O JSON é extremamente fácil de manipular no JS por ser tratado como um objeto, que tem atributos e valores.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endParaRPr lang="pt-BR" sz="1800" dirty="0"/>
          </a:p>
          <a:p>
            <a:pPr marL="0" lvl="1" indent="0" algn="l"/>
            <a:r>
              <a:rPr lang="pt-BR" sz="1800" noProof="0" dirty="0" err="1"/>
              <a:t>const</a:t>
            </a:r>
            <a:r>
              <a:rPr lang="pt-BR" sz="1800" noProof="0" dirty="0"/>
              <a:t> </a:t>
            </a:r>
            <a:r>
              <a:rPr lang="pt-BR" sz="1800" noProof="0" dirty="0" err="1"/>
              <a:t>pokemon</a:t>
            </a:r>
            <a:r>
              <a:rPr lang="pt-BR" sz="1800" noProof="0" dirty="0"/>
              <a:t> = {</a:t>
            </a:r>
          </a:p>
          <a:p>
            <a:pPr marL="0" lvl="1" indent="0" algn="l"/>
            <a:r>
              <a:rPr lang="pt-BR" sz="1800" noProof="0" dirty="0"/>
              <a:t>  </a:t>
            </a:r>
            <a:r>
              <a:rPr lang="pt-BR" sz="1800" noProof="0" dirty="0" err="1"/>
              <a:t>name</a:t>
            </a:r>
            <a:r>
              <a:rPr lang="pt-BR" sz="1800" noProof="0" dirty="0"/>
              <a:t>: "pikachu",</a:t>
            </a:r>
          </a:p>
          <a:p>
            <a:pPr marL="0" lvl="1" indent="0" algn="l"/>
            <a:r>
              <a:rPr lang="pt-BR" sz="1800" noProof="0" dirty="0"/>
              <a:t>  </a:t>
            </a:r>
            <a:r>
              <a:rPr lang="pt-BR" sz="1800" noProof="0" dirty="0" err="1"/>
              <a:t>height</a:t>
            </a:r>
            <a:r>
              <a:rPr lang="pt-BR" sz="1800" noProof="0" dirty="0"/>
              <a:t>: 4</a:t>
            </a:r>
          </a:p>
          <a:p>
            <a:pPr marL="0" lvl="1" indent="0" algn="l"/>
            <a:r>
              <a:rPr lang="pt-BR" sz="1800" noProof="0" dirty="0"/>
              <a:t>};</a:t>
            </a:r>
          </a:p>
          <a:p>
            <a:pPr marL="0" lvl="1" indent="0" algn="l"/>
            <a:endParaRPr lang="pt-BR" sz="1800" noProof="0" dirty="0"/>
          </a:p>
          <a:p>
            <a:pPr marL="0" lvl="1" indent="0" algn="l"/>
            <a:r>
              <a:rPr lang="pt-BR" sz="1800" noProof="0" dirty="0"/>
              <a:t>console.log(pokemon.name);</a:t>
            </a:r>
          </a:p>
          <a:p>
            <a:pPr marL="0" lvl="1" indent="0" algn="l"/>
            <a:r>
              <a:rPr lang="pt-BR" sz="1800" noProof="0" dirty="0"/>
              <a:t>console.log(</a:t>
            </a:r>
            <a:r>
              <a:rPr lang="pt-BR" sz="1800" noProof="0" dirty="0" err="1"/>
              <a:t>pokemon.height</a:t>
            </a:r>
            <a:r>
              <a:rPr lang="pt-BR" sz="1800" noProof="0" dirty="0"/>
              <a:t>);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58991EBB-BCE1-A167-570D-0F6A55DE51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7178" y="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JSON (</a:t>
            </a:r>
            <a:r>
              <a:rPr lang="pt-BR" noProof="0" dirty="0" err="1">
                <a:solidFill>
                  <a:schemeClr val="accent4"/>
                </a:solidFill>
              </a:rPr>
              <a:t>JavaScript</a:t>
            </a:r>
            <a:r>
              <a:rPr lang="pt-BR" noProof="0" dirty="0">
                <a:solidFill>
                  <a:schemeClr val="accent4"/>
                </a:solidFill>
              </a:rPr>
              <a:t> </a:t>
            </a:r>
            <a:r>
              <a:rPr lang="pt-BR" noProof="0" dirty="0" err="1">
                <a:solidFill>
                  <a:schemeClr val="accent4"/>
                </a:solidFill>
              </a:rPr>
              <a:t>Object</a:t>
            </a:r>
            <a:r>
              <a:rPr lang="pt-BR" noProof="0" dirty="0">
                <a:solidFill>
                  <a:schemeClr val="accent4"/>
                </a:solidFill>
              </a:rPr>
              <a:t> </a:t>
            </a:r>
            <a:r>
              <a:rPr lang="pt-BR" noProof="0" dirty="0" err="1">
                <a:solidFill>
                  <a:schemeClr val="accent4"/>
                </a:solidFill>
              </a:rPr>
              <a:t>Notation</a:t>
            </a:r>
            <a:r>
              <a:rPr lang="pt-BR" noProof="0" dirty="0">
                <a:solidFill>
                  <a:schemeClr val="accent4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664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0D0A5D3D-77D4-3A59-3B58-7099FEA0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C345510F-E014-B4C5-1586-F21D2D2FA57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dirty="0"/>
              <a:t>É possível buscar os dados de uma API usando o método </a:t>
            </a:r>
            <a:r>
              <a:rPr lang="pt-BR" sz="2000" b="1" dirty="0" err="1"/>
              <a:t>fetch</a:t>
            </a:r>
            <a:r>
              <a:rPr lang="pt-BR" sz="2000" dirty="0"/>
              <a:t> do JS.</a:t>
            </a:r>
          </a:p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noProof="0" dirty="0"/>
              <a:t>Exemplo:</a:t>
            </a:r>
          </a:p>
          <a:p>
            <a:pPr marL="0" lvl="1" indent="0" algn="l"/>
            <a:endParaRPr lang="pt-BR" sz="2000" dirty="0"/>
          </a:p>
          <a:p>
            <a:pPr marL="0" lvl="1" indent="0" algn="l"/>
            <a:r>
              <a:rPr lang="pt-BR" sz="2000" dirty="0"/>
              <a:t>	</a:t>
            </a:r>
            <a:r>
              <a:rPr lang="pt-BR" sz="2000" dirty="0" err="1"/>
              <a:t>fetch</a:t>
            </a:r>
            <a:r>
              <a:rPr lang="pt-BR" sz="2000" dirty="0"/>
              <a:t>("https://pokeapi.co/api/v2/</a:t>
            </a:r>
            <a:r>
              <a:rPr lang="pt-BR" sz="2000" dirty="0" err="1"/>
              <a:t>pokemon</a:t>
            </a:r>
            <a:r>
              <a:rPr lang="pt-BR" sz="2000" dirty="0"/>
              <a:t>/pikachu")</a:t>
            </a:r>
          </a:p>
          <a:p>
            <a:pPr marL="0" lvl="1" indent="0" algn="l"/>
            <a:endParaRPr lang="pt-BR" sz="2000" dirty="0"/>
          </a:p>
          <a:p>
            <a:pPr marL="182563" lvl="1" indent="-182563" algn="l">
              <a:buFont typeface="Arial" panose="020B0604020202020204" pitchFamily="34" charset="0"/>
              <a:buChar char="•"/>
            </a:pPr>
            <a:r>
              <a:rPr lang="pt-BR" sz="2000" dirty="0"/>
              <a:t>Esse método vai realizar a requisição e é uma operação assíncrona, uma vez que os dados que está requisitando podem levar algum tempo para serem retornados.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5E81D334-0E54-7EB6-99AA-0CBAA1B72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Consumindo APIs</a:t>
            </a:r>
          </a:p>
        </p:txBody>
      </p:sp>
    </p:spTree>
    <p:extLst>
      <p:ext uri="{BB962C8B-B14F-4D97-AF65-F5344CB8AC3E}">
        <p14:creationId xmlns:p14="http://schemas.microsoft.com/office/powerpoint/2010/main" val="305862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30B3D684-4EF7-CCDE-75AE-6D61337C3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7EF44266-C618-CB33-3E5F-6CB052686EC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dirty="0"/>
              <a:t>Como a resposta pode demorar, nós precisamos criar mecanismos para tratar o dado quando ele estiver disponível. No JS, utilizamos o método </a:t>
            </a:r>
            <a:r>
              <a:rPr lang="pt-BR" sz="2000" b="1" dirty="0" err="1"/>
              <a:t>then</a:t>
            </a:r>
            <a:r>
              <a:rPr lang="pt-BR" sz="2000" dirty="0"/>
              <a:t>:</a:t>
            </a:r>
          </a:p>
          <a:p>
            <a:pPr marL="0" lvl="1" indent="0" algn="l"/>
            <a:endParaRPr lang="pt-BR" sz="2000" b="1" dirty="0"/>
          </a:p>
          <a:p>
            <a:pPr marL="0" lvl="1" indent="0"/>
            <a:r>
              <a:rPr lang="pt-BR" sz="2000" dirty="0" err="1"/>
              <a:t>fetch</a:t>
            </a:r>
            <a:r>
              <a:rPr lang="pt-BR" sz="2000" dirty="0"/>
              <a:t>("https://pokeapi.co/api/v2/</a:t>
            </a:r>
            <a:r>
              <a:rPr lang="pt-BR" sz="2000" dirty="0" err="1"/>
              <a:t>pokemon</a:t>
            </a:r>
            <a:r>
              <a:rPr lang="pt-BR" sz="2000" dirty="0"/>
              <a:t>/pikachu")</a:t>
            </a:r>
          </a:p>
          <a:p>
            <a:pPr marL="0" lvl="1" indent="0"/>
            <a:r>
              <a:rPr lang="pt-BR" sz="2000" dirty="0"/>
              <a:t>.</a:t>
            </a:r>
            <a:r>
              <a:rPr lang="pt-BR" sz="2000" dirty="0" err="1"/>
              <a:t>then</a:t>
            </a:r>
            <a:r>
              <a:rPr lang="pt-BR" sz="2000" dirty="0"/>
              <a:t>(response =&gt; </a:t>
            </a:r>
            <a:r>
              <a:rPr lang="pt-BR" sz="2000" dirty="0" err="1"/>
              <a:t>response.json</a:t>
            </a:r>
            <a:r>
              <a:rPr lang="pt-BR" sz="2000" dirty="0"/>
              <a:t>())</a:t>
            </a:r>
          </a:p>
          <a:p>
            <a:pPr marL="0" lvl="1" indent="0" algn="l"/>
            <a:endParaRPr lang="pt-BR" sz="2000" dirty="0"/>
          </a:p>
          <a:p>
            <a:pPr marL="182563" lvl="1" indent="-182563" algn="l">
              <a:buFont typeface="Arial" panose="020B0604020202020204" pitchFamily="34" charset="0"/>
              <a:buChar char="•"/>
            </a:pPr>
            <a:r>
              <a:rPr lang="pt-BR" sz="2000" dirty="0"/>
              <a:t>Convertendo JSON em objeto JS</a:t>
            </a:r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54FE9F1B-3F2C-17BC-BBBC-C0E65AD50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Consumindo APIs</a:t>
            </a:r>
          </a:p>
        </p:txBody>
      </p:sp>
    </p:spTree>
    <p:extLst>
      <p:ext uri="{BB962C8B-B14F-4D97-AF65-F5344CB8AC3E}">
        <p14:creationId xmlns:p14="http://schemas.microsoft.com/office/powerpoint/2010/main" val="134295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C1202496-80EF-4514-81E5-8D349824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943466E4-D3DF-7CAE-817F-0FA671E7E8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4245" y="1443125"/>
            <a:ext cx="8996766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1" indent="-177800" algn="l">
              <a:buFont typeface="Arial" panose="020B0604020202020204" pitchFamily="34" charset="0"/>
              <a:buChar char="•"/>
            </a:pPr>
            <a:r>
              <a:rPr lang="pt-BR" sz="2000" dirty="0"/>
              <a:t>Podemos encadear o método </a:t>
            </a:r>
            <a:r>
              <a:rPr lang="pt-BR" sz="2000" dirty="0" err="1"/>
              <a:t>then</a:t>
            </a:r>
            <a:r>
              <a:rPr lang="pt-BR" sz="2000" dirty="0"/>
              <a:t> para, por exemplo, utilizar os dados retornados:</a:t>
            </a:r>
          </a:p>
          <a:p>
            <a:pPr marL="0" lvl="1" indent="0" algn="l"/>
            <a:endParaRPr lang="pt-BR" sz="2000" b="1" dirty="0"/>
          </a:p>
          <a:p>
            <a:pPr marL="0" lvl="1" indent="0" algn="l"/>
            <a:r>
              <a:rPr lang="en-US" sz="2000" dirty="0"/>
              <a:t>fetch("https://pokeapi.co/</a:t>
            </a:r>
            <a:r>
              <a:rPr lang="en-US" sz="2000" dirty="0" err="1"/>
              <a:t>api</a:t>
            </a:r>
            <a:r>
              <a:rPr lang="en-US" sz="2000" dirty="0"/>
              <a:t>/v2/</a:t>
            </a:r>
            <a:r>
              <a:rPr lang="en-US" sz="2000" dirty="0" err="1"/>
              <a:t>pokemon</a:t>
            </a:r>
            <a:r>
              <a:rPr lang="en-US" sz="2000" dirty="0"/>
              <a:t>/</a:t>
            </a:r>
            <a:r>
              <a:rPr lang="en-US" sz="2000" dirty="0" err="1"/>
              <a:t>pikachu</a:t>
            </a:r>
            <a:r>
              <a:rPr lang="en-US" sz="2000" dirty="0"/>
              <a:t>")</a:t>
            </a:r>
          </a:p>
          <a:p>
            <a:pPr marL="0" lvl="1" indent="0" algn="l"/>
            <a:r>
              <a:rPr lang="en-US" sz="2000" dirty="0"/>
              <a:t>  .then(response =&gt; </a:t>
            </a:r>
            <a:r>
              <a:rPr lang="en-US" sz="2000" dirty="0" err="1"/>
              <a:t>response.json</a:t>
            </a:r>
            <a:r>
              <a:rPr lang="en-US" sz="2000" dirty="0"/>
              <a:t>())</a:t>
            </a:r>
          </a:p>
          <a:p>
            <a:pPr marL="0" lvl="1" indent="0" algn="l"/>
            <a:r>
              <a:rPr lang="en-US" sz="2000" dirty="0"/>
              <a:t>  .then(data =&gt; {</a:t>
            </a:r>
          </a:p>
          <a:p>
            <a:pPr marL="0" lvl="1" indent="0" algn="l"/>
            <a:r>
              <a:rPr lang="en-US" sz="2000" dirty="0"/>
              <a:t>      console.log(data);</a:t>
            </a:r>
          </a:p>
          <a:p>
            <a:pPr marL="0" lvl="1" indent="0" algn="l"/>
            <a:r>
              <a:rPr lang="en-US" sz="2000" dirty="0"/>
              <a:t>  });</a:t>
            </a:r>
            <a:endParaRPr lang="pt-BR" sz="2000" dirty="0"/>
          </a:p>
        </p:txBody>
      </p:sp>
      <p:sp>
        <p:nvSpPr>
          <p:cNvPr id="4" name="Google Shape;454;p37">
            <a:extLst>
              <a:ext uri="{FF2B5EF4-FFF2-40B4-BE49-F238E27FC236}">
                <a16:creationId xmlns:a16="http://schemas.microsoft.com/office/drawing/2014/main" id="{BEDFB159-28E5-E048-5E22-D69E58594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noProof="0" dirty="0">
                <a:solidFill>
                  <a:schemeClr val="accent4"/>
                </a:solidFill>
              </a:rPr>
              <a:t>Consumindo APIs</a:t>
            </a:r>
          </a:p>
        </p:txBody>
      </p:sp>
    </p:spTree>
    <p:extLst>
      <p:ext uri="{BB962C8B-B14F-4D97-AF65-F5344CB8AC3E}">
        <p14:creationId xmlns:p14="http://schemas.microsoft.com/office/powerpoint/2010/main" val="1045011784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535</Words>
  <Application>Microsoft Office PowerPoint</Application>
  <PresentationFormat>Apresentação na tela (16:9)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Comfortaa</vt:lpstr>
      <vt:lpstr>Arial</vt:lpstr>
      <vt:lpstr>Source Code Pro</vt:lpstr>
      <vt:lpstr>Fira Code</vt:lpstr>
      <vt:lpstr>Introduction to Java Programming for High School by Slidesgo</vt:lpstr>
      <vt:lpstr>Programação  Frontend  Assincronismo e APIs</vt:lpstr>
      <vt:lpstr>Aplicações WEB modernas</vt:lpstr>
      <vt:lpstr>Execução síncrona</vt:lpstr>
      <vt:lpstr>Execução assíncrona</vt:lpstr>
      <vt:lpstr>APIs (Application Programming Interface)</vt:lpstr>
      <vt:lpstr>Exemplos de API</vt:lpstr>
      <vt:lpstr>JSON (JavaScript Object Notation)</vt:lpstr>
      <vt:lpstr>JSON (JavaScript Object Notation)</vt:lpstr>
      <vt:lpstr>Consumindo APIs</vt:lpstr>
      <vt:lpstr>Consumindo APIs</vt:lpstr>
      <vt:lpstr>Consumindo APIs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Flávio Mota</cp:lastModifiedBy>
  <cp:revision>77</cp:revision>
  <dcterms:modified xsi:type="dcterms:W3CDTF">2026-03-26T19:19:35Z</dcterms:modified>
</cp:coreProperties>
</file>
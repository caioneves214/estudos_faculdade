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6" r:id="rId1"/>
  </p:sldMasterIdLst>
  <p:notesMasterIdLst>
    <p:notesMasterId r:id="rId15"/>
  </p:notesMasterIdLst>
  <p:sldIdLst>
    <p:sldId id="256" r:id="rId2"/>
    <p:sldId id="261" r:id="rId3"/>
    <p:sldId id="325" r:id="rId4"/>
    <p:sldId id="353" r:id="rId5"/>
    <p:sldId id="354" r:id="rId6"/>
    <p:sldId id="368" r:id="rId7"/>
    <p:sldId id="369" r:id="rId8"/>
    <p:sldId id="370" r:id="rId9"/>
    <p:sldId id="371" r:id="rId10"/>
    <p:sldId id="367" r:id="rId11"/>
    <p:sldId id="372" r:id="rId12"/>
    <p:sldId id="373" r:id="rId13"/>
    <p:sldId id="374" r:id="rId14"/>
  </p:sldIdLst>
  <p:sldSz cx="9144000" cy="5143500" type="screen16x9"/>
  <p:notesSz cx="6858000" cy="9144000"/>
  <p:embeddedFontLst>
    <p:embeddedFont>
      <p:font typeface="Comfortaa" panose="020B0604020202020204" charset="0"/>
      <p:regular r:id="rId16"/>
      <p:bold r:id="rId17"/>
    </p:embeddedFont>
    <p:embeddedFont>
      <p:font typeface="Fira Code" panose="020B0809050000020004" pitchFamily="49" charset="0"/>
      <p:regular r:id="rId18"/>
      <p:bold r:id="rId19"/>
    </p:embeddedFont>
    <p:embeddedFont>
      <p:font typeface="Source Code Pro" panose="020B0309030403020204" pitchFamily="49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BF9ABEB-4590-4420-9E09-107500E5C6D5}">
  <a:tblStyle styleId="{6BF9ABEB-4590-4420-9E09-107500E5C6D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73683A9-DA97-4C60-9935-5F6DAABC24F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1234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236" name="Google Shape;23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429" name="Google Shape;429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>
          <a:extLst>
            <a:ext uri="{FF2B5EF4-FFF2-40B4-BE49-F238E27FC236}">
              <a16:creationId xmlns:a16="http://schemas.microsoft.com/office/drawing/2014/main" id="{3DD61FF4-00ED-F2C0-A457-E280E15D2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14072739ea5_12_0:notes">
            <a:extLst>
              <a:ext uri="{FF2B5EF4-FFF2-40B4-BE49-F238E27FC236}">
                <a16:creationId xmlns:a16="http://schemas.microsoft.com/office/drawing/2014/main" id="{B77BD39F-E974-1CA6-205B-C28455A093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429" name="Google Shape;429;g14072739ea5_12_0:notes">
            <a:extLst>
              <a:ext uri="{FF2B5EF4-FFF2-40B4-BE49-F238E27FC236}">
                <a16:creationId xmlns:a16="http://schemas.microsoft.com/office/drawing/2014/main" id="{76536CB0-ABC0-5D44-B054-F30F3BF233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958793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>
          <a:extLst>
            <a:ext uri="{FF2B5EF4-FFF2-40B4-BE49-F238E27FC236}">
              <a16:creationId xmlns:a16="http://schemas.microsoft.com/office/drawing/2014/main" id="{76B92703-8CF3-E76F-2D01-A5A8730B8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14072739ea5_12_0:notes">
            <a:extLst>
              <a:ext uri="{FF2B5EF4-FFF2-40B4-BE49-F238E27FC236}">
                <a16:creationId xmlns:a16="http://schemas.microsoft.com/office/drawing/2014/main" id="{B12A3993-DCD1-4703-2311-A3D0341CDB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429" name="Google Shape;429;g14072739ea5_12_0:notes">
            <a:extLst>
              <a:ext uri="{FF2B5EF4-FFF2-40B4-BE49-F238E27FC236}">
                <a16:creationId xmlns:a16="http://schemas.microsoft.com/office/drawing/2014/main" id="{58B48305-6FA8-E951-8FBA-24BC102B82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2373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>
          <a:extLst>
            <a:ext uri="{FF2B5EF4-FFF2-40B4-BE49-F238E27FC236}">
              <a16:creationId xmlns:a16="http://schemas.microsoft.com/office/drawing/2014/main" id="{41929D15-614A-5BED-5BE6-AAEE5486D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14072739ea5_12_0:notes">
            <a:extLst>
              <a:ext uri="{FF2B5EF4-FFF2-40B4-BE49-F238E27FC236}">
                <a16:creationId xmlns:a16="http://schemas.microsoft.com/office/drawing/2014/main" id="{C12EB9BA-C2E9-1850-185F-F622FF1641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429" name="Google Shape;429;g14072739ea5_12_0:notes">
            <a:extLst>
              <a:ext uri="{FF2B5EF4-FFF2-40B4-BE49-F238E27FC236}">
                <a16:creationId xmlns:a16="http://schemas.microsoft.com/office/drawing/2014/main" id="{624D1256-3B85-6A81-A232-DFF8D3C0CC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077725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>
          <a:extLst>
            <a:ext uri="{FF2B5EF4-FFF2-40B4-BE49-F238E27FC236}">
              <a16:creationId xmlns:a16="http://schemas.microsoft.com/office/drawing/2014/main" id="{E466D61C-7111-B4A5-DB3C-9B3F44493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14072739ea5_12_0:notes">
            <a:extLst>
              <a:ext uri="{FF2B5EF4-FFF2-40B4-BE49-F238E27FC236}">
                <a16:creationId xmlns:a16="http://schemas.microsoft.com/office/drawing/2014/main" id="{6A756FA7-F2B8-B944-A543-F203BF3E06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429" name="Google Shape;429;g14072739ea5_12_0:notes">
            <a:extLst>
              <a:ext uri="{FF2B5EF4-FFF2-40B4-BE49-F238E27FC236}">
                <a16:creationId xmlns:a16="http://schemas.microsoft.com/office/drawing/2014/main" id="{88702DDF-4649-3AED-79C6-13296C594D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62278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>
          <a:extLst>
            <a:ext uri="{FF2B5EF4-FFF2-40B4-BE49-F238E27FC236}">
              <a16:creationId xmlns:a16="http://schemas.microsoft.com/office/drawing/2014/main" id="{A05452B3-D58C-248F-6DED-902C6944E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14072739ea5_12_0:notes">
            <a:extLst>
              <a:ext uri="{FF2B5EF4-FFF2-40B4-BE49-F238E27FC236}">
                <a16:creationId xmlns:a16="http://schemas.microsoft.com/office/drawing/2014/main" id="{9E3E7914-9D49-C8CD-D492-DE27F73FA3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429" name="Google Shape;429;g14072739ea5_12_0:notes">
            <a:extLst>
              <a:ext uri="{FF2B5EF4-FFF2-40B4-BE49-F238E27FC236}">
                <a16:creationId xmlns:a16="http://schemas.microsoft.com/office/drawing/2014/main" id="{93063329-477C-56B3-ABE1-57E072A0E3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8520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>
          <a:extLst>
            <a:ext uri="{FF2B5EF4-FFF2-40B4-BE49-F238E27FC236}">
              <a16:creationId xmlns:a16="http://schemas.microsoft.com/office/drawing/2014/main" id="{A07C5F1E-638A-D86D-DEAD-1CB014133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14072739ea5_12_0:notes">
            <a:extLst>
              <a:ext uri="{FF2B5EF4-FFF2-40B4-BE49-F238E27FC236}">
                <a16:creationId xmlns:a16="http://schemas.microsoft.com/office/drawing/2014/main" id="{14D3E561-7B10-F72A-C442-C4B726D39E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429" name="Google Shape;429;g14072739ea5_12_0:notes">
            <a:extLst>
              <a:ext uri="{FF2B5EF4-FFF2-40B4-BE49-F238E27FC236}">
                <a16:creationId xmlns:a16="http://schemas.microsoft.com/office/drawing/2014/main" id="{2D5283F4-BD60-203F-94B1-498F4F2C31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21834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>
          <a:extLst>
            <a:ext uri="{FF2B5EF4-FFF2-40B4-BE49-F238E27FC236}">
              <a16:creationId xmlns:a16="http://schemas.microsoft.com/office/drawing/2014/main" id="{2B4AD53D-9BDB-8061-4BF5-0925CFD68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14072739ea5_12_0:notes">
            <a:extLst>
              <a:ext uri="{FF2B5EF4-FFF2-40B4-BE49-F238E27FC236}">
                <a16:creationId xmlns:a16="http://schemas.microsoft.com/office/drawing/2014/main" id="{7B0EED82-8EFA-25FB-31D5-267B2B5806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429" name="Google Shape;429;g14072739ea5_12_0:notes">
            <a:extLst>
              <a:ext uri="{FF2B5EF4-FFF2-40B4-BE49-F238E27FC236}">
                <a16:creationId xmlns:a16="http://schemas.microsoft.com/office/drawing/2014/main" id="{71DD0371-7DB5-D885-64A3-C3F967B229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239774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>
          <a:extLst>
            <a:ext uri="{FF2B5EF4-FFF2-40B4-BE49-F238E27FC236}">
              <a16:creationId xmlns:a16="http://schemas.microsoft.com/office/drawing/2014/main" id="{66BA79FC-003F-8B5C-5E46-27055B288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14072739ea5_12_0:notes">
            <a:extLst>
              <a:ext uri="{FF2B5EF4-FFF2-40B4-BE49-F238E27FC236}">
                <a16:creationId xmlns:a16="http://schemas.microsoft.com/office/drawing/2014/main" id="{543FE285-B69B-CC17-AE8A-E70A1AA848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429" name="Google Shape;429;g14072739ea5_12_0:notes">
            <a:extLst>
              <a:ext uri="{FF2B5EF4-FFF2-40B4-BE49-F238E27FC236}">
                <a16:creationId xmlns:a16="http://schemas.microsoft.com/office/drawing/2014/main" id="{64178085-79F0-9D98-2312-3B08442712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579449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>
          <a:extLst>
            <a:ext uri="{FF2B5EF4-FFF2-40B4-BE49-F238E27FC236}">
              <a16:creationId xmlns:a16="http://schemas.microsoft.com/office/drawing/2014/main" id="{A6344131-6802-95BB-51EC-A043B1057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14072739ea5_12_0:notes">
            <a:extLst>
              <a:ext uri="{FF2B5EF4-FFF2-40B4-BE49-F238E27FC236}">
                <a16:creationId xmlns:a16="http://schemas.microsoft.com/office/drawing/2014/main" id="{8C360549-9477-D7D5-8EC7-068D70553B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429" name="Google Shape;429;g14072739ea5_12_0:notes">
            <a:extLst>
              <a:ext uri="{FF2B5EF4-FFF2-40B4-BE49-F238E27FC236}">
                <a16:creationId xmlns:a16="http://schemas.microsoft.com/office/drawing/2014/main" id="{D568C380-A89C-DB13-26CC-1DF2F8E8D7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290396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>
          <a:extLst>
            <a:ext uri="{FF2B5EF4-FFF2-40B4-BE49-F238E27FC236}">
              <a16:creationId xmlns:a16="http://schemas.microsoft.com/office/drawing/2014/main" id="{E92A9B6F-ECF9-EB82-346D-A1ECDBBC4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14072739ea5_12_0:notes">
            <a:extLst>
              <a:ext uri="{FF2B5EF4-FFF2-40B4-BE49-F238E27FC236}">
                <a16:creationId xmlns:a16="http://schemas.microsoft.com/office/drawing/2014/main" id="{5940B34C-CA20-0F2B-ADF4-51C9DBFD72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429" name="Google Shape;429;g14072739ea5_12_0:notes">
            <a:extLst>
              <a:ext uri="{FF2B5EF4-FFF2-40B4-BE49-F238E27FC236}">
                <a16:creationId xmlns:a16="http://schemas.microsoft.com/office/drawing/2014/main" id="{83AA6524-2AFB-C7A8-4A27-453BFEC3F0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698740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>
          <a:extLst>
            <a:ext uri="{FF2B5EF4-FFF2-40B4-BE49-F238E27FC236}">
              <a16:creationId xmlns:a16="http://schemas.microsoft.com/office/drawing/2014/main" id="{A5B0DC92-7A67-3654-BB0F-B0F2662D2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14072739ea5_12_0:notes">
            <a:extLst>
              <a:ext uri="{FF2B5EF4-FFF2-40B4-BE49-F238E27FC236}">
                <a16:creationId xmlns:a16="http://schemas.microsoft.com/office/drawing/2014/main" id="{D73C3EBC-B85D-8074-9BC4-25A8C277D8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429" name="Google Shape;429;g14072739ea5_12_0:notes">
            <a:extLst>
              <a:ext uri="{FF2B5EF4-FFF2-40B4-BE49-F238E27FC236}">
                <a16:creationId xmlns:a16="http://schemas.microsoft.com/office/drawing/2014/main" id="{6DF863EC-3BD9-4BCF-8C09-6F93B1C6E6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84743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2735500" y="1258850"/>
            <a:ext cx="5797500" cy="20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735500" y="3297650"/>
            <a:ext cx="5797500" cy="4407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/>
          <p:nvPr/>
        </p:nvSpPr>
        <p:spPr>
          <a:xfrm>
            <a:off x="7775" y="-1800"/>
            <a:ext cx="9144000" cy="1160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5" name="Google Shape;135;p19"/>
          <p:cNvGrpSpPr/>
          <p:nvPr/>
        </p:nvGrpSpPr>
        <p:grpSpPr>
          <a:xfrm>
            <a:off x="8389787" y="179931"/>
            <a:ext cx="486393" cy="125690"/>
            <a:chOff x="-890300" y="1406550"/>
            <a:chExt cx="806088" cy="208200"/>
          </a:xfrm>
        </p:grpSpPr>
        <p:sp>
          <p:nvSpPr>
            <p:cNvPr id="136" name="Google Shape;136;p19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19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9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9" name="Google Shape;139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19"/>
          <p:cNvSpPr txBox="1">
            <a:spLocks noGrp="1"/>
          </p:cNvSpPr>
          <p:nvPr>
            <p:ph type="subTitle" idx="1"/>
          </p:nvPr>
        </p:nvSpPr>
        <p:spPr>
          <a:xfrm>
            <a:off x="4821898" y="1443125"/>
            <a:ext cx="3602100" cy="243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19"/>
          <p:cNvSpPr txBox="1">
            <a:spLocks noGrp="1"/>
          </p:cNvSpPr>
          <p:nvPr>
            <p:ph type="subTitle" idx="2"/>
          </p:nvPr>
        </p:nvSpPr>
        <p:spPr>
          <a:xfrm>
            <a:off x="644000" y="1443125"/>
            <a:ext cx="3602100" cy="243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"/>
          <p:cNvSpPr/>
          <p:nvPr/>
        </p:nvSpPr>
        <p:spPr>
          <a:xfrm>
            <a:off x="7775" y="-1800"/>
            <a:ext cx="9144000" cy="1160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8" name="Google Shape;218;p26"/>
          <p:cNvGrpSpPr/>
          <p:nvPr/>
        </p:nvGrpSpPr>
        <p:grpSpPr>
          <a:xfrm>
            <a:off x="8389787" y="179931"/>
            <a:ext cx="486393" cy="125690"/>
            <a:chOff x="-890300" y="1406550"/>
            <a:chExt cx="806088" cy="208200"/>
          </a:xfrm>
        </p:grpSpPr>
        <p:sp>
          <p:nvSpPr>
            <p:cNvPr id="219" name="Google Shape;219;p2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2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2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7"/>
          <p:cNvSpPr/>
          <p:nvPr/>
        </p:nvSpPr>
        <p:spPr>
          <a:xfrm>
            <a:off x="4424750" y="-1800"/>
            <a:ext cx="47193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4" name="Google Shape;224;p27"/>
          <p:cNvGrpSpPr/>
          <p:nvPr/>
        </p:nvGrpSpPr>
        <p:grpSpPr>
          <a:xfrm>
            <a:off x="8193116" y="446250"/>
            <a:ext cx="414956" cy="186500"/>
            <a:chOff x="7059675" y="514525"/>
            <a:chExt cx="473100" cy="186500"/>
          </a:xfrm>
        </p:grpSpPr>
        <p:cxnSp>
          <p:nvCxnSpPr>
            <p:cNvPr id="225" name="Google Shape;225;p27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6" name="Google Shape;226;p27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7" name="Google Shape;227;p27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8" r:id="rId2"/>
    <p:sldLayoutId id="2147483665" r:id="rId3"/>
    <p:sldLayoutId id="2147483672" r:id="rId4"/>
    <p:sldLayoutId id="2147483673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>
            <a:spLocks noGrp="1"/>
          </p:cNvSpPr>
          <p:nvPr>
            <p:ph type="ctrTitle"/>
          </p:nvPr>
        </p:nvSpPr>
        <p:spPr>
          <a:xfrm>
            <a:off x="2735500" y="1258850"/>
            <a:ext cx="5797500" cy="20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pt-BR" dirty="0"/>
              <a:t>Programação </a:t>
            </a:r>
            <a:br>
              <a:rPr lang="pt-BR" dirty="0"/>
            </a:br>
            <a:r>
              <a:rPr lang="pt-BR" dirty="0" err="1"/>
              <a:t>Frontend</a:t>
            </a:r>
            <a:br>
              <a:rPr lang="pt-BR" dirty="0"/>
            </a:br>
            <a:br>
              <a:rPr lang="pt-BR" dirty="0"/>
            </a:br>
            <a:r>
              <a:rPr lang="pt-BR" dirty="0"/>
              <a:t>Formulários</a:t>
            </a:r>
            <a:endParaRPr lang="pt-BR" noProof="0" dirty="0"/>
          </a:p>
        </p:txBody>
      </p:sp>
      <p:sp>
        <p:nvSpPr>
          <p:cNvPr id="240" name="Google Shape;240;p31"/>
          <p:cNvSpPr txBox="1"/>
          <p:nvPr/>
        </p:nvSpPr>
        <p:spPr>
          <a:xfrm>
            <a:off x="2097300" y="571000"/>
            <a:ext cx="704700" cy="8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0" noProof="0" dirty="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{</a:t>
            </a:r>
          </a:p>
        </p:txBody>
      </p:sp>
      <p:sp>
        <p:nvSpPr>
          <p:cNvPr id="241" name="Google Shape;241;p31"/>
          <p:cNvSpPr txBox="1"/>
          <p:nvPr/>
        </p:nvSpPr>
        <p:spPr>
          <a:xfrm>
            <a:off x="8588000" y="4001925"/>
            <a:ext cx="519300" cy="7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0" noProof="0" dirty="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</a:p>
        </p:txBody>
      </p:sp>
      <p:sp>
        <p:nvSpPr>
          <p:cNvPr id="242" name="Google Shape;242;p31"/>
          <p:cNvSpPr txBox="1"/>
          <p:nvPr/>
        </p:nvSpPr>
        <p:spPr>
          <a:xfrm>
            <a:off x="2847375" y="4108415"/>
            <a:ext cx="1447500" cy="5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0" noProof="0" dirty="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...</a:t>
            </a:r>
            <a:endParaRPr lang="pt-BR" sz="5000" noProof="0" dirty="0">
              <a:solidFill>
                <a:schemeClr val="accent2"/>
              </a:solidFill>
            </a:endParaRPr>
          </a:p>
        </p:txBody>
      </p:sp>
      <p:grpSp>
        <p:nvGrpSpPr>
          <p:cNvPr id="243" name="Google Shape;243;p31"/>
          <p:cNvGrpSpPr/>
          <p:nvPr/>
        </p:nvGrpSpPr>
        <p:grpSpPr>
          <a:xfrm>
            <a:off x="8059900" y="446250"/>
            <a:ext cx="473100" cy="186500"/>
            <a:chOff x="7059675" y="514525"/>
            <a:chExt cx="473100" cy="186500"/>
          </a:xfrm>
        </p:grpSpPr>
        <p:cxnSp>
          <p:nvCxnSpPr>
            <p:cNvPr id="244" name="Google Shape;244;p31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5" name="Google Shape;245;p31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6" name="Google Shape;246;p31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47" name="Google Shape;247;p31"/>
          <p:cNvGrpSpPr/>
          <p:nvPr/>
        </p:nvGrpSpPr>
        <p:grpSpPr>
          <a:xfrm>
            <a:off x="255130" y="696438"/>
            <a:ext cx="2377907" cy="3907563"/>
            <a:chOff x="5" y="747463"/>
            <a:chExt cx="2377907" cy="3907563"/>
          </a:xfrm>
        </p:grpSpPr>
        <p:sp>
          <p:nvSpPr>
            <p:cNvPr id="248" name="Google Shape;248;p31"/>
            <p:cNvSpPr/>
            <p:nvPr/>
          </p:nvSpPr>
          <p:spPr>
            <a:xfrm>
              <a:off x="5" y="75603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249" name="Google Shape;249;p31"/>
            <p:cNvSpPr/>
            <p:nvPr/>
          </p:nvSpPr>
          <p:spPr>
            <a:xfrm>
              <a:off x="486329" y="7474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250" name="Google Shape;250;p31"/>
            <p:cNvSpPr/>
            <p:nvPr/>
          </p:nvSpPr>
          <p:spPr>
            <a:xfrm>
              <a:off x="5" y="10682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251" name="Google Shape;251;p31"/>
            <p:cNvSpPr/>
            <p:nvPr/>
          </p:nvSpPr>
          <p:spPr>
            <a:xfrm>
              <a:off x="5" y="1394975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252" name="Google Shape;252;p31"/>
            <p:cNvSpPr/>
            <p:nvPr/>
          </p:nvSpPr>
          <p:spPr>
            <a:xfrm>
              <a:off x="5" y="172171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253" name="Google Shape;253;p31"/>
            <p:cNvSpPr/>
            <p:nvPr/>
          </p:nvSpPr>
          <p:spPr>
            <a:xfrm>
              <a:off x="434858" y="1721713"/>
              <a:ext cx="454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254" name="Google Shape;254;p31"/>
            <p:cNvSpPr/>
            <p:nvPr/>
          </p:nvSpPr>
          <p:spPr>
            <a:xfrm>
              <a:off x="934654" y="1721722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255" name="Google Shape;255;p31"/>
            <p:cNvSpPr/>
            <p:nvPr/>
          </p:nvSpPr>
          <p:spPr>
            <a:xfrm>
              <a:off x="5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256" name="Google Shape;256;p31"/>
            <p:cNvSpPr/>
            <p:nvPr/>
          </p:nvSpPr>
          <p:spPr>
            <a:xfrm>
              <a:off x="5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257" name="Google Shape;257;p31"/>
            <p:cNvSpPr/>
            <p:nvPr/>
          </p:nvSpPr>
          <p:spPr>
            <a:xfrm>
              <a:off x="5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258" name="Google Shape;258;p31"/>
            <p:cNvSpPr/>
            <p:nvPr/>
          </p:nvSpPr>
          <p:spPr>
            <a:xfrm>
              <a:off x="5" y="29929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259" name="Google Shape;259;p31"/>
            <p:cNvSpPr/>
            <p:nvPr/>
          </p:nvSpPr>
          <p:spPr>
            <a:xfrm>
              <a:off x="13726" y="37739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260" name="Google Shape;260;p31"/>
            <p:cNvSpPr/>
            <p:nvPr/>
          </p:nvSpPr>
          <p:spPr>
            <a:xfrm>
              <a:off x="434858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261" name="Google Shape;261;p31"/>
            <p:cNvSpPr/>
            <p:nvPr/>
          </p:nvSpPr>
          <p:spPr>
            <a:xfrm>
              <a:off x="395919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262" name="Google Shape;262;p31"/>
            <p:cNvSpPr/>
            <p:nvPr/>
          </p:nvSpPr>
          <p:spPr>
            <a:xfrm>
              <a:off x="434858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263" name="Google Shape;263;p31"/>
            <p:cNvSpPr/>
            <p:nvPr/>
          </p:nvSpPr>
          <p:spPr>
            <a:xfrm>
              <a:off x="434858" y="300995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264" name="Google Shape;264;p31"/>
            <p:cNvSpPr/>
            <p:nvPr/>
          </p:nvSpPr>
          <p:spPr>
            <a:xfrm>
              <a:off x="434858" y="33358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265" name="Google Shape;265;p31"/>
            <p:cNvSpPr/>
            <p:nvPr/>
          </p:nvSpPr>
          <p:spPr>
            <a:xfrm>
              <a:off x="838550" y="2032296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266" name="Google Shape;266;p31"/>
            <p:cNvSpPr/>
            <p:nvPr/>
          </p:nvSpPr>
          <p:spPr>
            <a:xfrm>
              <a:off x="838550" y="2375145"/>
              <a:ext cx="65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267" name="Google Shape;267;p31"/>
            <p:cNvSpPr/>
            <p:nvPr/>
          </p:nvSpPr>
          <p:spPr>
            <a:xfrm>
              <a:off x="861466" y="2684069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268" name="Google Shape;268;p31"/>
            <p:cNvSpPr/>
            <p:nvPr/>
          </p:nvSpPr>
          <p:spPr>
            <a:xfrm>
              <a:off x="861466" y="3028567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269" name="Google Shape;269;p31"/>
            <p:cNvSpPr/>
            <p:nvPr/>
          </p:nvSpPr>
          <p:spPr>
            <a:xfrm>
              <a:off x="861466" y="3335841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270" name="Google Shape;270;p31"/>
            <p:cNvSpPr/>
            <p:nvPr/>
          </p:nvSpPr>
          <p:spPr>
            <a:xfrm>
              <a:off x="1360349" y="2032296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271" name="Google Shape;271;p31"/>
            <p:cNvSpPr/>
            <p:nvPr/>
          </p:nvSpPr>
          <p:spPr>
            <a:xfrm>
              <a:off x="1573836" y="2358182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272" name="Google Shape;272;p31"/>
            <p:cNvSpPr/>
            <p:nvPr/>
          </p:nvSpPr>
          <p:spPr>
            <a:xfrm>
              <a:off x="1697856" y="2684094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273" name="Google Shape;273;p31"/>
            <p:cNvSpPr/>
            <p:nvPr/>
          </p:nvSpPr>
          <p:spPr>
            <a:xfrm>
              <a:off x="1697856" y="3335891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274" name="Google Shape;274;p31"/>
            <p:cNvSpPr/>
            <p:nvPr/>
          </p:nvSpPr>
          <p:spPr>
            <a:xfrm>
              <a:off x="13726" y="401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275" name="Google Shape;275;p31"/>
            <p:cNvSpPr/>
            <p:nvPr/>
          </p:nvSpPr>
          <p:spPr>
            <a:xfrm>
              <a:off x="395919" y="42965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276" name="Google Shape;276;p31"/>
            <p:cNvSpPr/>
            <p:nvPr/>
          </p:nvSpPr>
          <p:spPr>
            <a:xfrm>
              <a:off x="875884" y="4296538"/>
              <a:ext cx="385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277" name="Google Shape;277;p31"/>
            <p:cNvSpPr/>
            <p:nvPr/>
          </p:nvSpPr>
          <p:spPr>
            <a:xfrm>
              <a:off x="1360349" y="4296538"/>
              <a:ext cx="4869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278" name="Google Shape;278;p31"/>
            <p:cNvSpPr/>
            <p:nvPr/>
          </p:nvSpPr>
          <p:spPr>
            <a:xfrm>
              <a:off x="1912083" y="4296538"/>
              <a:ext cx="17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279" name="Google Shape;279;p31"/>
            <p:cNvSpPr/>
            <p:nvPr/>
          </p:nvSpPr>
          <p:spPr>
            <a:xfrm>
              <a:off x="395919" y="4505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280" name="Google Shape;280;p31"/>
            <p:cNvSpPr/>
            <p:nvPr/>
          </p:nvSpPr>
          <p:spPr>
            <a:xfrm>
              <a:off x="875884" y="4505063"/>
              <a:ext cx="6135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281" name="Google Shape;281;p31"/>
            <p:cNvSpPr/>
            <p:nvPr/>
          </p:nvSpPr>
          <p:spPr>
            <a:xfrm>
              <a:off x="1570204" y="4505063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282" name="Google Shape;282;p31"/>
            <p:cNvSpPr/>
            <p:nvPr/>
          </p:nvSpPr>
          <p:spPr>
            <a:xfrm>
              <a:off x="894657" y="75937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283" name="Google Shape;283;p31"/>
            <p:cNvSpPr/>
            <p:nvPr/>
          </p:nvSpPr>
          <p:spPr>
            <a:xfrm>
              <a:off x="486348" y="106828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284" name="Google Shape;284;p31"/>
            <p:cNvSpPr/>
            <p:nvPr/>
          </p:nvSpPr>
          <p:spPr>
            <a:xfrm>
              <a:off x="1169818" y="1064149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285" name="Google Shape;285;p31"/>
            <p:cNvSpPr/>
            <p:nvPr/>
          </p:nvSpPr>
          <p:spPr>
            <a:xfrm>
              <a:off x="486342" y="1395013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286" name="Google Shape;286;p31"/>
            <p:cNvSpPr/>
            <p:nvPr/>
          </p:nvSpPr>
          <p:spPr>
            <a:xfrm>
              <a:off x="1254423" y="1719659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287" name="Google Shape;287;p31"/>
            <p:cNvSpPr/>
            <p:nvPr/>
          </p:nvSpPr>
          <p:spPr>
            <a:xfrm>
              <a:off x="1697859" y="3028567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288" name="Google Shape;288;p31"/>
            <p:cNvSpPr/>
            <p:nvPr/>
          </p:nvSpPr>
          <p:spPr>
            <a:xfrm>
              <a:off x="1840717" y="2032296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289" name="Google Shape;289;p31"/>
            <p:cNvSpPr/>
            <p:nvPr/>
          </p:nvSpPr>
          <p:spPr>
            <a:xfrm>
              <a:off x="2037810" y="2684069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290" name="Google Shape;290;p31"/>
            <p:cNvSpPr/>
            <p:nvPr/>
          </p:nvSpPr>
          <p:spPr>
            <a:xfrm>
              <a:off x="1912311" y="450712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291" name="Google Shape;291;p31"/>
            <p:cNvSpPr/>
            <p:nvPr/>
          </p:nvSpPr>
          <p:spPr>
            <a:xfrm>
              <a:off x="434873" y="39876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292" name="Google Shape;292;p31"/>
            <p:cNvSpPr/>
            <p:nvPr/>
          </p:nvSpPr>
          <p:spPr>
            <a:xfrm>
              <a:off x="434873" y="37575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</p:grpSp>
      <p:sp>
        <p:nvSpPr>
          <p:cNvPr id="4" name="Google Shape;239;p31">
            <a:extLst>
              <a:ext uri="{FF2B5EF4-FFF2-40B4-BE49-F238E27FC236}">
                <a16:creationId xmlns:a16="http://schemas.microsoft.com/office/drawing/2014/main" id="{DF945BFB-F10F-6078-E38D-A5CD7E5B1C2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735500" y="3297649"/>
            <a:ext cx="5797500" cy="9478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r"/>
            <a:r>
              <a:rPr lang="en" dirty="0"/>
              <a:t> </a:t>
            </a:r>
            <a:r>
              <a:rPr lang="pt-BR" sz="1400" dirty="0"/>
              <a:t>Prof. Flávio Belizário da Silva Mota</a:t>
            </a:r>
          </a:p>
          <a:p>
            <a:pPr algn="r"/>
            <a:r>
              <a:rPr lang="pt-BR" sz="1400" dirty="0"/>
              <a:t>Universidade do Vale do Sapucaí – UNIVAS</a:t>
            </a:r>
          </a:p>
          <a:p>
            <a:pPr algn="r"/>
            <a:r>
              <a:rPr lang="pt-BR" sz="1400" dirty="0"/>
              <a:t>Sistemas de Informação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6"/>
          <p:cNvSpPr txBox="1">
            <a:spLocks noGrp="1"/>
          </p:cNvSpPr>
          <p:nvPr>
            <p:ph type="subTitle" idx="2"/>
          </p:nvPr>
        </p:nvSpPr>
        <p:spPr>
          <a:xfrm>
            <a:off x="170481" y="1443125"/>
            <a:ext cx="8772041" cy="243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7800" lvl="1" indent="-177800" algn="l">
              <a:buFont typeface="Arial" panose="020B0604020202020204" pitchFamily="34" charset="0"/>
              <a:buChar char="•"/>
            </a:pPr>
            <a:r>
              <a:rPr lang="pt-BR" sz="2000" noProof="0" dirty="0"/>
              <a:t>Formulários são utilizado basicamente para entrada de dados do usuário, como cadastro, atualização, remoção e atualização de informações. </a:t>
            </a:r>
          </a:p>
          <a:p>
            <a:pPr marL="177800" lvl="1" indent="-177800" algn="l">
              <a:buFont typeface="Arial" panose="020B0604020202020204" pitchFamily="34" charset="0"/>
              <a:buChar char="•"/>
            </a:pPr>
            <a:r>
              <a:rPr lang="pt-BR" sz="2000" noProof="0" dirty="0"/>
              <a:t>O elemento &lt;</a:t>
            </a:r>
            <a:r>
              <a:rPr lang="pt-BR" sz="2000" noProof="0" dirty="0" err="1"/>
              <a:t>form</a:t>
            </a:r>
            <a:r>
              <a:rPr lang="pt-BR" sz="2000" noProof="0" dirty="0"/>
              <a:t>&gt; é utilizado para definir os elementos HTML responsáveis pela entrada de dados, e deve ser definido como &lt;</a:t>
            </a:r>
            <a:r>
              <a:rPr lang="pt-BR" sz="2000" noProof="0" dirty="0" err="1"/>
              <a:t>form</a:t>
            </a:r>
            <a:r>
              <a:rPr lang="pt-BR" sz="2000" noProof="0" dirty="0"/>
              <a:t> </a:t>
            </a:r>
            <a:r>
              <a:rPr lang="pt-BR" sz="2000" noProof="0" dirty="0" err="1"/>
              <a:t>action</a:t>
            </a:r>
            <a:r>
              <a:rPr lang="pt-BR" sz="2000" noProof="0" dirty="0"/>
              <a:t>=“</a:t>
            </a:r>
            <a:r>
              <a:rPr lang="pt-BR" sz="2000" noProof="0" dirty="0" err="1"/>
              <a:t>arquivo_script</a:t>
            </a:r>
            <a:r>
              <a:rPr lang="pt-BR" sz="2000" noProof="0" dirty="0"/>
              <a:t>” </a:t>
            </a:r>
            <a:r>
              <a:rPr lang="pt-BR" sz="2000" noProof="0" dirty="0" err="1"/>
              <a:t>method</a:t>
            </a:r>
            <a:r>
              <a:rPr lang="pt-BR" sz="2000" noProof="0" dirty="0"/>
              <a:t>=“método”&gt;.</a:t>
            </a:r>
          </a:p>
          <a:p>
            <a:pPr marL="177800" lvl="1" indent="-177800" algn="l">
              <a:buFont typeface="Arial" panose="020B0604020202020204" pitchFamily="34" charset="0"/>
              <a:buChar char="•"/>
            </a:pPr>
            <a:r>
              <a:rPr lang="pt-BR" sz="2000" dirty="0"/>
              <a:t>O atributo </a:t>
            </a:r>
            <a:r>
              <a:rPr lang="pt-BR" sz="2000" noProof="0" dirty="0" err="1"/>
              <a:t>method</a:t>
            </a:r>
            <a:r>
              <a:rPr lang="pt-BR" sz="2000" dirty="0"/>
              <a:t> </a:t>
            </a:r>
            <a:r>
              <a:rPr lang="pt-BR" sz="2000" noProof="0" dirty="0"/>
              <a:t>serve para especificarmos a forma de envio dos dados, podendo ser do tipo GET ou POST.</a:t>
            </a:r>
          </a:p>
        </p:txBody>
      </p:sp>
      <p:sp>
        <p:nvSpPr>
          <p:cNvPr id="4" name="Google Shape;454;p37">
            <a:extLst>
              <a:ext uri="{FF2B5EF4-FFF2-40B4-BE49-F238E27FC236}">
                <a16:creationId xmlns:a16="http://schemas.microsoft.com/office/drawing/2014/main" id="{CA6C556D-003F-30CE-86D0-0FAA2A7F15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dirty="0">
                <a:solidFill>
                  <a:schemeClr val="accent4"/>
                </a:solidFill>
              </a:rPr>
              <a:t>Formulários HTML</a:t>
            </a:r>
            <a:endParaRPr lang="pt-BR" noProof="0" dirty="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>
          <a:extLst>
            <a:ext uri="{FF2B5EF4-FFF2-40B4-BE49-F238E27FC236}">
              <a16:creationId xmlns:a16="http://schemas.microsoft.com/office/drawing/2014/main" id="{027A9DCA-1BFE-63C9-C013-5500458A4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6">
            <a:extLst>
              <a:ext uri="{FF2B5EF4-FFF2-40B4-BE49-F238E27FC236}">
                <a16:creationId xmlns:a16="http://schemas.microsoft.com/office/drawing/2014/main" id="{97A5237C-3106-1F03-0AC6-4FAF58D29F0A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643999" y="1443125"/>
            <a:ext cx="7903315" cy="243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7800" lvl="1" indent="-177800" algn="l">
              <a:buFont typeface="Arial" panose="020B0604020202020204" pitchFamily="34" charset="0"/>
              <a:buChar char="•"/>
            </a:pPr>
            <a:r>
              <a:rPr lang="pt-BR" sz="1800" b="1" dirty="0"/>
              <a:t>GET: </a:t>
            </a:r>
            <a:r>
              <a:rPr lang="pt-BR" sz="1800" dirty="0"/>
              <a:t>método que envia as variáveis digitadas pelo usuário pela URL, ou seja, podemos ver as variáveis sendo passadas pela URL da página de destino. Não é muito aconselhável o uso do método GET, pois ele expõe os nomes e os valores das variáveis.</a:t>
            </a:r>
          </a:p>
          <a:p>
            <a:pPr marL="177800" lvl="1" indent="-177800" algn="l">
              <a:buFont typeface="Arial" panose="020B0604020202020204" pitchFamily="34" charset="0"/>
              <a:buChar char="•"/>
            </a:pPr>
            <a:r>
              <a:rPr lang="pt-BR" sz="1800" b="1" dirty="0"/>
              <a:t>POST: </a:t>
            </a:r>
            <a:r>
              <a:rPr lang="pt-BR" sz="1800" dirty="0"/>
              <a:t>método que envia as variáveis digitadas pelo corpo da página, sendo completamente transparente para o usuário. É o método mais aconselhável.</a:t>
            </a:r>
          </a:p>
        </p:txBody>
      </p:sp>
      <p:grpSp>
        <p:nvGrpSpPr>
          <p:cNvPr id="434" name="Google Shape;434;p36">
            <a:extLst>
              <a:ext uri="{FF2B5EF4-FFF2-40B4-BE49-F238E27FC236}">
                <a16:creationId xmlns:a16="http://schemas.microsoft.com/office/drawing/2014/main" id="{CCCDB3B2-409B-976F-6225-AA410A32C07F}"/>
              </a:ext>
            </a:extLst>
          </p:cNvPr>
          <p:cNvGrpSpPr/>
          <p:nvPr/>
        </p:nvGrpSpPr>
        <p:grpSpPr>
          <a:xfrm>
            <a:off x="350039" y="3944000"/>
            <a:ext cx="2536147" cy="887325"/>
            <a:chOff x="880714" y="3731738"/>
            <a:chExt cx="2536147" cy="887325"/>
          </a:xfrm>
        </p:grpSpPr>
        <p:sp>
          <p:nvSpPr>
            <p:cNvPr id="435" name="Google Shape;435;p36">
              <a:extLst>
                <a:ext uri="{FF2B5EF4-FFF2-40B4-BE49-F238E27FC236}">
                  <a16:creationId xmlns:a16="http://schemas.microsoft.com/office/drawing/2014/main" id="{4DEDA544-DD5E-6792-A732-66093EB7AA08}"/>
                </a:ext>
              </a:extLst>
            </p:cNvPr>
            <p:cNvSpPr/>
            <p:nvPr/>
          </p:nvSpPr>
          <p:spPr>
            <a:xfrm>
              <a:off x="880714" y="37482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436" name="Google Shape;436;p36">
              <a:extLst>
                <a:ext uri="{FF2B5EF4-FFF2-40B4-BE49-F238E27FC236}">
                  <a16:creationId xmlns:a16="http://schemas.microsoft.com/office/drawing/2014/main" id="{A22D5A1C-66C6-193E-44D7-F39E5EAA4375}"/>
                </a:ext>
              </a:extLst>
            </p:cNvPr>
            <p:cNvSpPr/>
            <p:nvPr/>
          </p:nvSpPr>
          <p:spPr>
            <a:xfrm>
              <a:off x="880714" y="39872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437" name="Google Shape;437;p36">
              <a:extLst>
                <a:ext uri="{FF2B5EF4-FFF2-40B4-BE49-F238E27FC236}">
                  <a16:creationId xmlns:a16="http://schemas.microsoft.com/office/drawing/2014/main" id="{541A2EEC-9D8E-352D-DC87-9C8810C87F36}"/>
                </a:ext>
              </a:extLst>
            </p:cNvPr>
            <p:cNvSpPr/>
            <p:nvPr/>
          </p:nvSpPr>
          <p:spPr>
            <a:xfrm>
              <a:off x="880732" y="42605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438" name="Google Shape;438;p36">
              <a:extLst>
                <a:ext uri="{FF2B5EF4-FFF2-40B4-BE49-F238E27FC236}">
                  <a16:creationId xmlns:a16="http://schemas.microsoft.com/office/drawing/2014/main" id="{4A43E026-CA24-8891-F8A9-AEF2750EFF67}"/>
                </a:ext>
              </a:extLst>
            </p:cNvPr>
            <p:cNvSpPr/>
            <p:nvPr/>
          </p:nvSpPr>
          <p:spPr>
            <a:xfrm>
              <a:off x="1374131" y="4260575"/>
              <a:ext cx="5244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439" name="Google Shape;439;p36">
              <a:extLst>
                <a:ext uri="{FF2B5EF4-FFF2-40B4-BE49-F238E27FC236}">
                  <a16:creationId xmlns:a16="http://schemas.microsoft.com/office/drawing/2014/main" id="{9CD82CFD-925F-A43F-C8AB-760F8E4BFBC8}"/>
                </a:ext>
              </a:extLst>
            </p:cNvPr>
            <p:cNvSpPr/>
            <p:nvPr/>
          </p:nvSpPr>
          <p:spPr>
            <a:xfrm>
              <a:off x="2032952" y="4260575"/>
              <a:ext cx="661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440" name="Google Shape;440;p36">
              <a:extLst>
                <a:ext uri="{FF2B5EF4-FFF2-40B4-BE49-F238E27FC236}">
                  <a16:creationId xmlns:a16="http://schemas.microsoft.com/office/drawing/2014/main" id="{A1C33250-8588-97E6-E25A-663924C6E99C}"/>
                </a:ext>
              </a:extLst>
            </p:cNvPr>
            <p:cNvSpPr/>
            <p:nvPr/>
          </p:nvSpPr>
          <p:spPr>
            <a:xfrm>
              <a:off x="2783250" y="4260575"/>
              <a:ext cx="2415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441" name="Google Shape;441;p36">
              <a:extLst>
                <a:ext uri="{FF2B5EF4-FFF2-40B4-BE49-F238E27FC236}">
                  <a16:creationId xmlns:a16="http://schemas.microsoft.com/office/drawing/2014/main" id="{1276B19F-5796-F0AD-1B0C-FEE34AC67958}"/>
                </a:ext>
              </a:extLst>
            </p:cNvPr>
            <p:cNvSpPr/>
            <p:nvPr/>
          </p:nvSpPr>
          <p:spPr>
            <a:xfrm>
              <a:off x="880732" y="44691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442" name="Google Shape;442;p36">
              <a:extLst>
                <a:ext uri="{FF2B5EF4-FFF2-40B4-BE49-F238E27FC236}">
                  <a16:creationId xmlns:a16="http://schemas.microsoft.com/office/drawing/2014/main" id="{3AAEC27A-859A-0025-5438-8F5E88BB573C}"/>
                </a:ext>
              </a:extLst>
            </p:cNvPr>
            <p:cNvSpPr/>
            <p:nvPr/>
          </p:nvSpPr>
          <p:spPr>
            <a:xfrm>
              <a:off x="1374131" y="4469100"/>
              <a:ext cx="8340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443" name="Google Shape;443;p36">
              <a:extLst>
                <a:ext uri="{FF2B5EF4-FFF2-40B4-BE49-F238E27FC236}">
                  <a16:creationId xmlns:a16="http://schemas.microsoft.com/office/drawing/2014/main" id="{C3BAC60D-EA8A-C9BE-8A0A-3E4A93FC09C4}"/>
                </a:ext>
              </a:extLst>
            </p:cNvPr>
            <p:cNvSpPr/>
            <p:nvPr/>
          </p:nvSpPr>
          <p:spPr>
            <a:xfrm>
              <a:off x="2318331" y="4469100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444" name="Google Shape;444;p36">
              <a:extLst>
                <a:ext uri="{FF2B5EF4-FFF2-40B4-BE49-F238E27FC236}">
                  <a16:creationId xmlns:a16="http://schemas.microsoft.com/office/drawing/2014/main" id="{49A0BE1F-341A-B655-97C5-0ABC321E2A2A}"/>
                </a:ext>
              </a:extLst>
            </p:cNvPr>
            <p:cNvSpPr/>
            <p:nvPr/>
          </p:nvSpPr>
          <p:spPr>
            <a:xfrm>
              <a:off x="2783561" y="44711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445" name="Google Shape;445;p36">
              <a:extLst>
                <a:ext uri="{FF2B5EF4-FFF2-40B4-BE49-F238E27FC236}">
                  <a16:creationId xmlns:a16="http://schemas.microsoft.com/office/drawing/2014/main" id="{027CD268-3833-1CC6-6916-B787D0C5E318}"/>
                </a:ext>
              </a:extLst>
            </p:cNvPr>
            <p:cNvSpPr/>
            <p:nvPr/>
          </p:nvSpPr>
          <p:spPr>
            <a:xfrm>
              <a:off x="1301861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446" name="Google Shape;446;p36">
              <a:extLst>
                <a:ext uri="{FF2B5EF4-FFF2-40B4-BE49-F238E27FC236}">
                  <a16:creationId xmlns:a16="http://schemas.microsoft.com/office/drawing/2014/main" id="{99D01C2B-2139-82CD-4031-1F97406C9D8A}"/>
                </a:ext>
              </a:extLst>
            </p:cNvPr>
            <p:cNvSpPr/>
            <p:nvPr/>
          </p:nvSpPr>
          <p:spPr>
            <a:xfrm>
              <a:off x="1301861" y="37317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447" name="Google Shape;447;p36">
              <a:extLst>
                <a:ext uri="{FF2B5EF4-FFF2-40B4-BE49-F238E27FC236}">
                  <a16:creationId xmlns:a16="http://schemas.microsoft.com/office/drawing/2014/main" id="{CDB5A406-FB11-9B73-E5F2-995ABAB82549}"/>
                </a:ext>
              </a:extLst>
            </p:cNvPr>
            <p:cNvSpPr/>
            <p:nvPr/>
          </p:nvSpPr>
          <p:spPr>
            <a:xfrm>
              <a:off x="2028686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</p:grpSp>
      <p:sp>
        <p:nvSpPr>
          <p:cNvPr id="448" name="Google Shape;448;p36">
            <a:extLst>
              <a:ext uri="{FF2B5EF4-FFF2-40B4-BE49-F238E27FC236}">
                <a16:creationId xmlns:a16="http://schemas.microsoft.com/office/drawing/2014/main" id="{AD3C8207-34A2-2ADC-EDAC-5634DF2A1ACB}"/>
              </a:ext>
            </a:extLst>
          </p:cNvPr>
          <p:cNvSpPr txBox="1"/>
          <p:nvPr/>
        </p:nvSpPr>
        <p:spPr>
          <a:xfrm>
            <a:off x="6717450" y="4008025"/>
            <a:ext cx="519300" cy="7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0" noProof="0" dirty="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</a:p>
        </p:txBody>
      </p:sp>
      <p:sp>
        <p:nvSpPr>
          <p:cNvPr id="449" name="Google Shape;449;p36">
            <a:extLst>
              <a:ext uri="{FF2B5EF4-FFF2-40B4-BE49-F238E27FC236}">
                <a16:creationId xmlns:a16="http://schemas.microsoft.com/office/drawing/2014/main" id="{6863C2F4-149A-9096-188F-12B76AFA6B08}"/>
              </a:ext>
            </a:extLst>
          </p:cNvPr>
          <p:cNvSpPr txBox="1"/>
          <p:nvPr/>
        </p:nvSpPr>
        <p:spPr>
          <a:xfrm>
            <a:off x="7407075" y="4221025"/>
            <a:ext cx="976200" cy="5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0" noProof="0" dirty="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..</a:t>
            </a:r>
            <a:endParaRPr lang="pt-BR" sz="5000" noProof="0" dirty="0">
              <a:solidFill>
                <a:schemeClr val="accent2"/>
              </a:solidFill>
            </a:endParaRPr>
          </a:p>
        </p:txBody>
      </p:sp>
      <p:sp>
        <p:nvSpPr>
          <p:cNvPr id="4" name="Google Shape;454;p37">
            <a:extLst>
              <a:ext uri="{FF2B5EF4-FFF2-40B4-BE49-F238E27FC236}">
                <a16:creationId xmlns:a16="http://schemas.microsoft.com/office/drawing/2014/main" id="{08717819-13B7-961C-ADAA-5D0D600D42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dirty="0">
                <a:solidFill>
                  <a:schemeClr val="accent4"/>
                </a:solidFill>
              </a:rPr>
              <a:t>Formulários HTML</a:t>
            </a:r>
            <a:endParaRPr lang="pt-BR" noProof="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67277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>
          <a:extLst>
            <a:ext uri="{FF2B5EF4-FFF2-40B4-BE49-F238E27FC236}">
              <a16:creationId xmlns:a16="http://schemas.microsoft.com/office/drawing/2014/main" id="{281D7216-D558-C0F0-D0C8-405163816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54;p37">
            <a:extLst>
              <a:ext uri="{FF2B5EF4-FFF2-40B4-BE49-F238E27FC236}">
                <a16:creationId xmlns:a16="http://schemas.microsoft.com/office/drawing/2014/main" id="{96DCCC29-1EBB-F458-1577-BA4AE5CCFB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dirty="0">
                <a:solidFill>
                  <a:schemeClr val="accent4"/>
                </a:solidFill>
              </a:rPr>
              <a:t>Formulários HTML com JS</a:t>
            </a:r>
            <a:endParaRPr lang="pt-BR" noProof="0" dirty="0">
              <a:solidFill>
                <a:schemeClr val="accent4"/>
              </a:solidFill>
            </a:endParaRPr>
          </a:p>
        </p:txBody>
      </p:sp>
      <p:sp>
        <p:nvSpPr>
          <p:cNvPr id="5" name="Google Shape;433;p36">
            <a:extLst>
              <a:ext uri="{FF2B5EF4-FFF2-40B4-BE49-F238E27FC236}">
                <a16:creationId xmlns:a16="http://schemas.microsoft.com/office/drawing/2014/main" id="{35953022-34C3-4B06-F936-E042C4AA6C58}"/>
              </a:ext>
            </a:extLst>
          </p:cNvPr>
          <p:cNvSpPr txBox="1">
            <a:spLocks/>
          </p:cNvSpPr>
          <p:nvPr/>
        </p:nvSpPr>
        <p:spPr>
          <a:xfrm>
            <a:off x="182880" y="1443125"/>
            <a:ext cx="8778240" cy="243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marL="177800" lvl="1" indent="-177800" algn="l">
              <a:buFont typeface="Arial" panose="020B0604020202020204" pitchFamily="34" charset="0"/>
              <a:buChar char="•"/>
            </a:pPr>
            <a:r>
              <a:rPr lang="pt-BR" sz="1800" dirty="0"/>
              <a:t>Ao manipular um formulário com JS não é necessário informar o </a:t>
            </a:r>
            <a:r>
              <a:rPr lang="pt-BR" sz="1800" dirty="0" err="1"/>
              <a:t>action</a:t>
            </a:r>
            <a:r>
              <a:rPr lang="pt-BR" sz="1800" dirty="0"/>
              <a:t> e o </a:t>
            </a:r>
            <a:r>
              <a:rPr lang="pt-BR" sz="1800" dirty="0" err="1"/>
              <a:t>method</a:t>
            </a:r>
            <a:r>
              <a:rPr lang="pt-BR" sz="1800" dirty="0"/>
              <a:t>, uma vez que podemos interceptar o envio do formulário com um evento e tratar tudo no navegador</a:t>
            </a:r>
          </a:p>
          <a:p>
            <a:pPr marL="177800" lvl="1" indent="-177800" algn="l">
              <a:buFont typeface="Arial" panose="020B0604020202020204" pitchFamily="34" charset="0"/>
              <a:buChar char="•"/>
            </a:pPr>
            <a:r>
              <a:rPr lang="pt-BR" sz="1800" dirty="0"/>
              <a:t>Usamos isso quando:</a:t>
            </a:r>
          </a:p>
          <a:p>
            <a:pPr marL="635000" lvl="2" indent="-177800" algn="l">
              <a:buFont typeface="Arial" panose="020B0604020202020204" pitchFamily="34" charset="0"/>
              <a:buChar char="•"/>
            </a:pPr>
            <a:r>
              <a:rPr lang="pt-BR" sz="1800" dirty="0"/>
              <a:t>precisamos validar os dados antes de enviar para um outro serviço</a:t>
            </a:r>
          </a:p>
          <a:p>
            <a:pPr marL="635000" lvl="2" indent="-177800" algn="l">
              <a:buFont typeface="Arial" panose="020B0604020202020204" pitchFamily="34" charset="0"/>
              <a:buChar char="•"/>
            </a:pPr>
            <a:r>
              <a:rPr lang="pt-BR" sz="1800" dirty="0"/>
              <a:t>queremos mostrar mensagens sem recarregar a página</a:t>
            </a:r>
          </a:p>
          <a:p>
            <a:pPr marL="635000" lvl="2" indent="-177800" algn="l">
              <a:buFont typeface="Arial" panose="020B0604020202020204" pitchFamily="34" charset="0"/>
              <a:buChar char="•"/>
            </a:pPr>
            <a:r>
              <a:rPr lang="pt-BR" sz="1800" dirty="0"/>
              <a:t>queremos controlar totalmente o fluxo da aplicação</a:t>
            </a:r>
          </a:p>
          <a:p>
            <a:pPr marL="177800" lvl="1" indent="-177800" algn="l">
              <a:buFont typeface="Arial" panose="020B0604020202020204" pitchFamily="34" charset="0"/>
              <a:buChar char="•"/>
            </a:pPr>
            <a:r>
              <a:rPr lang="pt-BR" sz="1800" dirty="0"/>
              <a:t>Para impedir o carregamento da página, utilizamos no JS o comando:</a:t>
            </a:r>
            <a:br>
              <a:rPr lang="pt-BR" sz="1800" dirty="0"/>
            </a:br>
            <a:r>
              <a:rPr lang="pt-BR" sz="1800" dirty="0"/>
              <a:t> </a:t>
            </a:r>
            <a:r>
              <a:rPr lang="pt-BR" sz="1800" dirty="0" err="1"/>
              <a:t>preventDefault</a:t>
            </a:r>
            <a:r>
              <a:rPr lang="pt-BR" sz="1800" dirty="0"/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22367129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>
          <a:extLst>
            <a:ext uri="{FF2B5EF4-FFF2-40B4-BE49-F238E27FC236}">
              <a16:creationId xmlns:a16="http://schemas.microsoft.com/office/drawing/2014/main" id="{C14D720F-09C4-99A2-66C5-AC7E91603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6">
            <a:extLst>
              <a:ext uri="{FF2B5EF4-FFF2-40B4-BE49-F238E27FC236}">
                <a16:creationId xmlns:a16="http://schemas.microsoft.com/office/drawing/2014/main" id="{6BC41803-1A65-A08E-B288-C9EEF27FE254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54245" y="1443125"/>
            <a:ext cx="8996766" cy="243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7800" lvl="1" indent="-177800" algn="l">
              <a:buFont typeface="Arial" panose="020B0604020202020204" pitchFamily="34" charset="0"/>
              <a:buChar char="•"/>
            </a:pPr>
            <a:r>
              <a:rPr lang="pt-BR" sz="1800" dirty="0"/>
              <a:t>Os elementos HTML que possibilitam criar campos para entrada do usuário são INPUT, SELECT e TEXTAREA.</a:t>
            </a:r>
          </a:p>
          <a:p>
            <a:pPr marL="177800" lvl="1" indent="-177800" algn="l">
              <a:buFont typeface="Arial" panose="020B0604020202020204" pitchFamily="34" charset="0"/>
              <a:buChar char="•"/>
            </a:pPr>
            <a:r>
              <a:rPr lang="pt-BR" sz="1800" noProof="0" dirty="0"/>
              <a:t>O elemento INPUT possui diferentes formas, de acordo com o conteúdo do atributo TYPE.</a:t>
            </a:r>
          </a:p>
          <a:p>
            <a:pPr marL="635000" lvl="2" indent="-177800" algn="l">
              <a:buFont typeface="Arial" panose="020B0604020202020204" pitchFamily="34" charset="0"/>
              <a:buChar char="•"/>
            </a:pPr>
            <a:r>
              <a:rPr lang="pt-BR" sz="1800" noProof="0" dirty="0"/>
              <a:t>&lt;input </a:t>
            </a:r>
            <a:r>
              <a:rPr lang="pt-BR" sz="1800" noProof="0" dirty="0" err="1"/>
              <a:t>type</a:t>
            </a:r>
            <a:r>
              <a:rPr lang="pt-BR" sz="1800" noProof="0" dirty="0"/>
              <a:t>=“</a:t>
            </a:r>
            <a:r>
              <a:rPr lang="pt-BR" sz="1800" b="1" noProof="0" dirty="0" err="1"/>
              <a:t>text</a:t>
            </a:r>
            <a:r>
              <a:rPr lang="pt-BR" sz="1800" noProof="0" dirty="0"/>
              <a:t>” </a:t>
            </a:r>
            <a:r>
              <a:rPr lang="pt-BR" sz="1800" noProof="0" dirty="0" err="1"/>
              <a:t>name</a:t>
            </a:r>
            <a:r>
              <a:rPr lang="pt-BR" sz="1800" noProof="0" dirty="0"/>
              <a:t>=“nome”&gt; : insere uma caixa de texto para entrada de dados;</a:t>
            </a:r>
          </a:p>
          <a:p>
            <a:pPr marL="635000" lvl="2" indent="-177800" algn="l">
              <a:buFont typeface="Arial" panose="020B0604020202020204" pitchFamily="34" charset="0"/>
              <a:buChar char="•"/>
            </a:pPr>
            <a:r>
              <a:rPr lang="pt-BR" sz="1800" noProof="0" dirty="0"/>
              <a:t>&lt;input </a:t>
            </a:r>
            <a:r>
              <a:rPr lang="pt-BR" sz="1800" noProof="0" dirty="0" err="1"/>
              <a:t>type</a:t>
            </a:r>
            <a:r>
              <a:rPr lang="pt-BR" sz="1800" noProof="0" dirty="0"/>
              <a:t>=“</a:t>
            </a:r>
            <a:r>
              <a:rPr lang="pt-BR" sz="1800" b="1" noProof="0" dirty="0" err="1"/>
              <a:t>hidden</a:t>
            </a:r>
            <a:r>
              <a:rPr lang="pt-BR" sz="1800" noProof="0" dirty="0"/>
              <a:t>” </a:t>
            </a:r>
            <a:r>
              <a:rPr lang="pt-BR" sz="1800" noProof="0" dirty="0" err="1"/>
              <a:t>name</a:t>
            </a:r>
            <a:r>
              <a:rPr lang="pt-BR" sz="1800" noProof="0" dirty="0"/>
              <a:t>=“nome”&gt; : cria uma caixa de texto que não aparece para o usuário.</a:t>
            </a:r>
          </a:p>
          <a:p>
            <a:pPr marL="635000" lvl="2" indent="-177800" algn="l">
              <a:buFont typeface="Arial" panose="020B0604020202020204" pitchFamily="34" charset="0"/>
              <a:buChar char="•"/>
            </a:pPr>
            <a:r>
              <a:rPr lang="pt-BR" sz="1800" noProof="0" dirty="0"/>
              <a:t>&lt;input </a:t>
            </a:r>
            <a:r>
              <a:rPr lang="pt-BR" sz="1800" noProof="0" dirty="0" err="1"/>
              <a:t>type</a:t>
            </a:r>
            <a:r>
              <a:rPr lang="pt-BR" sz="1800" noProof="0" dirty="0"/>
              <a:t>=“</a:t>
            </a:r>
            <a:r>
              <a:rPr lang="pt-BR" sz="1800" b="1" noProof="0" dirty="0" err="1"/>
              <a:t>password</a:t>
            </a:r>
            <a:r>
              <a:rPr lang="pt-BR" sz="1800" noProof="0" dirty="0"/>
              <a:t>” </a:t>
            </a:r>
            <a:r>
              <a:rPr lang="pt-BR" sz="1800" noProof="0" dirty="0" err="1"/>
              <a:t>name</a:t>
            </a:r>
            <a:r>
              <a:rPr lang="pt-BR" sz="1800" noProof="0" dirty="0"/>
              <a:t>=“nome”&gt; : insere uma caixa de texto para entrada de dados do tipo senha, inserindo círculos preenchidos ao invés dos valores que o usuário digita;</a:t>
            </a:r>
          </a:p>
        </p:txBody>
      </p:sp>
      <p:sp>
        <p:nvSpPr>
          <p:cNvPr id="4" name="Google Shape;454;p37">
            <a:extLst>
              <a:ext uri="{FF2B5EF4-FFF2-40B4-BE49-F238E27FC236}">
                <a16:creationId xmlns:a16="http://schemas.microsoft.com/office/drawing/2014/main" id="{8B74577A-DACE-B7B3-0FD6-E202D179E9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noProof="0" dirty="0">
                <a:solidFill>
                  <a:schemeClr val="accent4"/>
                </a:solidFill>
              </a:rPr>
              <a:t>Elementos HTML</a:t>
            </a:r>
          </a:p>
        </p:txBody>
      </p:sp>
    </p:spTree>
    <p:extLst>
      <p:ext uri="{BB962C8B-B14F-4D97-AF65-F5344CB8AC3E}">
        <p14:creationId xmlns:p14="http://schemas.microsoft.com/office/powerpoint/2010/main" val="1679187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>
          <a:extLst>
            <a:ext uri="{FF2B5EF4-FFF2-40B4-BE49-F238E27FC236}">
              <a16:creationId xmlns:a16="http://schemas.microsoft.com/office/drawing/2014/main" id="{6996E08F-5784-3FC9-E00C-8FCF1DBDB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6">
            <a:extLst>
              <a:ext uri="{FF2B5EF4-FFF2-40B4-BE49-F238E27FC236}">
                <a16:creationId xmlns:a16="http://schemas.microsoft.com/office/drawing/2014/main" id="{F328E6D3-F199-4333-8EDC-D297694F4133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54245" y="1443125"/>
            <a:ext cx="8996766" cy="243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35000" lvl="2" indent="-177800" algn="l">
              <a:buFont typeface="Arial" panose="020B0604020202020204" pitchFamily="34" charset="0"/>
              <a:buChar char="•"/>
            </a:pPr>
            <a:r>
              <a:rPr lang="pt-BR" sz="1800" noProof="0" dirty="0"/>
              <a:t>&lt;input </a:t>
            </a:r>
            <a:r>
              <a:rPr lang="pt-BR" sz="1800" noProof="0" dirty="0" err="1"/>
              <a:t>type</a:t>
            </a:r>
            <a:r>
              <a:rPr lang="pt-BR" sz="1800" noProof="0" dirty="0"/>
              <a:t>=“</a:t>
            </a:r>
            <a:r>
              <a:rPr lang="pt-BR" sz="1800" b="1" noProof="0" dirty="0" err="1"/>
              <a:t>checkbox</a:t>
            </a:r>
            <a:r>
              <a:rPr lang="pt-BR" sz="1800" noProof="0" dirty="0"/>
              <a:t>” </a:t>
            </a:r>
            <a:r>
              <a:rPr lang="pt-BR" sz="1800" noProof="0" dirty="0" err="1"/>
              <a:t>name</a:t>
            </a:r>
            <a:r>
              <a:rPr lang="pt-BR" sz="1800" noProof="0" dirty="0"/>
              <a:t>=“nome” </a:t>
            </a:r>
            <a:r>
              <a:rPr lang="pt-BR" sz="1800" noProof="0" dirty="0" err="1"/>
              <a:t>value</a:t>
            </a:r>
            <a:r>
              <a:rPr lang="pt-BR" sz="1800" noProof="0" dirty="0"/>
              <a:t>=”valor”&gt;: insere um botão para seleção ou não do usuário. Normalmente, são utilizados vários desses juntos, dando ao usuário a opção de selecionar um ou várias opções;</a:t>
            </a:r>
          </a:p>
          <a:p>
            <a:pPr marL="635000" lvl="2" indent="-177800" algn="l">
              <a:buFont typeface="Arial" panose="020B0604020202020204" pitchFamily="34" charset="0"/>
              <a:buChar char="•"/>
            </a:pPr>
            <a:r>
              <a:rPr lang="pt-BR" sz="1800" noProof="0" dirty="0"/>
              <a:t>&lt;input </a:t>
            </a:r>
            <a:r>
              <a:rPr lang="pt-BR" sz="1800" noProof="0" dirty="0" err="1"/>
              <a:t>type</a:t>
            </a:r>
            <a:r>
              <a:rPr lang="pt-BR" sz="1800" noProof="0" dirty="0"/>
              <a:t>=“</a:t>
            </a:r>
            <a:r>
              <a:rPr lang="pt-BR" sz="1800" b="1" noProof="0" dirty="0"/>
              <a:t>radio</a:t>
            </a:r>
            <a:r>
              <a:rPr lang="pt-BR" sz="1800" noProof="0" dirty="0"/>
              <a:t>” </a:t>
            </a:r>
            <a:r>
              <a:rPr lang="pt-BR" sz="1800" noProof="0" dirty="0" err="1"/>
              <a:t>name</a:t>
            </a:r>
            <a:r>
              <a:rPr lang="pt-BR" sz="1800" noProof="0" dirty="0"/>
              <a:t>=“nome” </a:t>
            </a:r>
            <a:r>
              <a:rPr lang="pt-BR" sz="1800" noProof="0" dirty="0" err="1"/>
              <a:t>value</a:t>
            </a:r>
            <a:r>
              <a:rPr lang="pt-BR" sz="1800" noProof="0" dirty="0"/>
              <a:t>=“valor”&gt; : insere um botão para seleção ou não do usuário. Normalmente, são utilizados vários desses juntos, dando ao usuário a opção de selecionar um ou várias opções. A diferença aqui é que os botões são mutualmente exclusivos. Os outros “radio” da mesma categoria devem ter o mesmo nome para que a exclusão possa funcionar corretamente;</a:t>
            </a:r>
          </a:p>
        </p:txBody>
      </p:sp>
      <p:sp>
        <p:nvSpPr>
          <p:cNvPr id="4" name="Google Shape;454;p37">
            <a:extLst>
              <a:ext uri="{FF2B5EF4-FFF2-40B4-BE49-F238E27FC236}">
                <a16:creationId xmlns:a16="http://schemas.microsoft.com/office/drawing/2014/main" id="{86CD695A-5B78-D998-54E5-2B4E5C6F50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noProof="0" dirty="0">
                <a:solidFill>
                  <a:schemeClr val="accent4"/>
                </a:solidFill>
              </a:rPr>
              <a:t>Elementos HTML</a:t>
            </a:r>
          </a:p>
        </p:txBody>
      </p:sp>
    </p:spTree>
    <p:extLst>
      <p:ext uri="{BB962C8B-B14F-4D97-AF65-F5344CB8AC3E}">
        <p14:creationId xmlns:p14="http://schemas.microsoft.com/office/powerpoint/2010/main" val="17573460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>
          <a:extLst>
            <a:ext uri="{FF2B5EF4-FFF2-40B4-BE49-F238E27FC236}">
              <a16:creationId xmlns:a16="http://schemas.microsoft.com/office/drawing/2014/main" id="{0D0A5D3D-77D4-3A59-3B58-7099FEA0B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6">
            <a:extLst>
              <a:ext uri="{FF2B5EF4-FFF2-40B4-BE49-F238E27FC236}">
                <a16:creationId xmlns:a16="http://schemas.microsoft.com/office/drawing/2014/main" id="{C345510F-E014-B4C5-1586-F21D2D2FA57C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54245" y="1443125"/>
            <a:ext cx="8996766" cy="243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35000" lvl="2" indent="-177800" algn="l">
              <a:buFont typeface="Arial" panose="020B0604020202020204" pitchFamily="34" charset="0"/>
              <a:buChar char="•"/>
            </a:pPr>
            <a:r>
              <a:rPr lang="pt-BR" sz="1800" noProof="0" dirty="0"/>
              <a:t>&lt;input </a:t>
            </a:r>
            <a:r>
              <a:rPr lang="pt-BR" sz="1800" noProof="0" dirty="0" err="1"/>
              <a:t>type</a:t>
            </a:r>
            <a:r>
              <a:rPr lang="pt-BR" sz="1800" noProof="0" dirty="0"/>
              <a:t>=“</a:t>
            </a:r>
            <a:r>
              <a:rPr lang="pt-BR" sz="1800" b="1" noProof="0" dirty="0"/>
              <a:t>time</a:t>
            </a:r>
            <a:r>
              <a:rPr lang="pt-BR" sz="1800" noProof="0" dirty="0"/>
              <a:t>”&gt;: cria um campo de entrada para horário</a:t>
            </a:r>
          </a:p>
          <a:p>
            <a:pPr marL="635000" lvl="2" indent="-177800" algn="l">
              <a:buFont typeface="Arial" panose="020B0604020202020204" pitchFamily="34" charset="0"/>
              <a:buChar char="•"/>
            </a:pPr>
            <a:r>
              <a:rPr lang="pt-BR" sz="1800" noProof="0" dirty="0"/>
              <a:t>&lt;input </a:t>
            </a:r>
            <a:r>
              <a:rPr lang="pt-BR" sz="1800" noProof="0" dirty="0" err="1"/>
              <a:t>type</a:t>
            </a:r>
            <a:r>
              <a:rPr lang="pt-BR" sz="1800" noProof="0" dirty="0"/>
              <a:t>=“</a:t>
            </a:r>
            <a:r>
              <a:rPr lang="pt-BR" sz="1800" b="1" noProof="0" dirty="0"/>
              <a:t>date</a:t>
            </a:r>
            <a:r>
              <a:rPr lang="pt-BR" sz="1800" dirty="0"/>
              <a:t>”&gt;: cria um campo de entrada para data</a:t>
            </a:r>
          </a:p>
          <a:p>
            <a:pPr marL="635000" lvl="2" indent="-177800" algn="l">
              <a:buFont typeface="Arial" panose="020B0604020202020204" pitchFamily="34" charset="0"/>
              <a:buChar char="•"/>
            </a:pPr>
            <a:r>
              <a:rPr lang="pt-BR" sz="1800" noProof="0" dirty="0"/>
              <a:t>&lt;input </a:t>
            </a:r>
            <a:r>
              <a:rPr lang="pt-BR" sz="1800" noProof="0" dirty="0" err="1"/>
              <a:t>type</a:t>
            </a:r>
            <a:r>
              <a:rPr lang="pt-BR" sz="1800" noProof="0" dirty="0"/>
              <a:t>=“</a:t>
            </a:r>
            <a:r>
              <a:rPr lang="pt-BR" sz="1800" noProof="0" dirty="0" err="1"/>
              <a:t>datetime</a:t>
            </a:r>
            <a:r>
              <a:rPr lang="pt-BR" sz="1800" noProof="0" dirty="0"/>
              <a:t>-local”&gt;: </a:t>
            </a:r>
            <a:r>
              <a:rPr lang="pt-BR" sz="1800" dirty="0"/>
              <a:t>cria um campo de entrada para data e hora do sistema</a:t>
            </a:r>
          </a:p>
          <a:p>
            <a:pPr marL="635000" lvl="2" indent="-177800" algn="l">
              <a:buFont typeface="Arial" panose="020B0604020202020204" pitchFamily="34" charset="0"/>
              <a:buChar char="•"/>
            </a:pPr>
            <a:r>
              <a:rPr lang="pt-BR" sz="1800" dirty="0"/>
              <a:t>&lt;input </a:t>
            </a:r>
            <a:r>
              <a:rPr lang="pt-BR" sz="1800" dirty="0" err="1"/>
              <a:t>type</a:t>
            </a:r>
            <a:r>
              <a:rPr lang="pt-BR" sz="1800" dirty="0"/>
              <a:t>=“</a:t>
            </a:r>
            <a:r>
              <a:rPr lang="pt-BR" sz="1800" b="1" dirty="0" err="1"/>
              <a:t>url</a:t>
            </a:r>
            <a:r>
              <a:rPr lang="pt-BR" sz="1800" dirty="0"/>
              <a:t>”&gt;: cria um campo para inserção de </a:t>
            </a:r>
            <a:r>
              <a:rPr lang="pt-BR" sz="1800" dirty="0" err="1"/>
              <a:t>urls</a:t>
            </a:r>
            <a:endParaRPr lang="pt-BR" sz="1800" b="1" noProof="0" dirty="0"/>
          </a:p>
          <a:p>
            <a:pPr marL="635000" lvl="2" indent="-177800" algn="l">
              <a:buFont typeface="Arial" panose="020B0604020202020204" pitchFamily="34" charset="0"/>
              <a:buChar char="•"/>
            </a:pPr>
            <a:r>
              <a:rPr lang="pt-BR" sz="1800" noProof="0" dirty="0"/>
              <a:t>&lt;input </a:t>
            </a:r>
            <a:r>
              <a:rPr lang="pt-BR" sz="1800" noProof="0" dirty="0" err="1"/>
              <a:t>type</a:t>
            </a:r>
            <a:r>
              <a:rPr lang="pt-BR" sz="1800" noProof="0" dirty="0"/>
              <a:t>=“</a:t>
            </a:r>
            <a:r>
              <a:rPr lang="pt-BR" sz="1800" b="1" noProof="0" dirty="0" err="1"/>
              <a:t>submit</a:t>
            </a:r>
            <a:r>
              <a:rPr lang="pt-BR" sz="1800" noProof="0" dirty="0"/>
              <a:t>” </a:t>
            </a:r>
            <a:r>
              <a:rPr lang="pt-BR" sz="1800" noProof="0" dirty="0" err="1"/>
              <a:t>value</a:t>
            </a:r>
            <a:r>
              <a:rPr lang="pt-BR" sz="1800" noProof="0" dirty="0"/>
              <a:t>=“valor”&gt;: apresenta um botão que gera o envio dos dados para o servidor.</a:t>
            </a:r>
          </a:p>
          <a:p>
            <a:pPr marL="635000" lvl="2" indent="-177800" algn="l">
              <a:buFont typeface="Arial" panose="020B0604020202020204" pitchFamily="34" charset="0"/>
              <a:buChar char="•"/>
            </a:pPr>
            <a:r>
              <a:rPr lang="pt-BR" sz="1800" noProof="0" dirty="0"/>
              <a:t>&lt;input </a:t>
            </a:r>
            <a:r>
              <a:rPr lang="pt-BR" sz="1800" noProof="0" dirty="0" err="1"/>
              <a:t>type</a:t>
            </a:r>
            <a:r>
              <a:rPr lang="pt-BR" sz="1800" noProof="0" dirty="0"/>
              <a:t>=“</a:t>
            </a:r>
            <a:r>
              <a:rPr lang="pt-BR" sz="1800" b="1" noProof="0" dirty="0"/>
              <a:t>reset</a:t>
            </a:r>
            <a:r>
              <a:rPr lang="pt-BR" sz="1800" noProof="0" dirty="0"/>
              <a:t>” </a:t>
            </a:r>
            <a:r>
              <a:rPr lang="pt-BR" sz="1800" noProof="0" dirty="0" err="1"/>
              <a:t>value</a:t>
            </a:r>
            <a:r>
              <a:rPr lang="pt-BR" sz="1800" noProof="0" dirty="0"/>
              <a:t>=“valor”&gt;: apresenta um botão que anula os valores entrados pelo usuário.</a:t>
            </a:r>
          </a:p>
        </p:txBody>
      </p:sp>
      <p:sp>
        <p:nvSpPr>
          <p:cNvPr id="4" name="Google Shape;454;p37">
            <a:extLst>
              <a:ext uri="{FF2B5EF4-FFF2-40B4-BE49-F238E27FC236}">
                <a16:creationId xmlns:a16="http://schemas.microsoft.com/office/drawing/2014/main" id="{5E81D334-0E54-7EB6-99AA-0CBAA1B72B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noProof="0" dirty="0">
                <a:solidFill>
                  <a:schemeClr val="accent4"/>
                </a:solidFill>
              </a:rPr>
              <a:t>Elementos HTML</a:t>
            </a:r>
          </a:p>
        </p:txBody>
      </p:sp>
    </p:spTree>
    <p:extLst>
      <p:ext uri="{BB962C8B-B14F-4D97-AF65-F5344CB8AC3E}">
        <p14:creationId xmlns:p14="http://schemas.microsoft.com/office/powerpoint/2010/main" val="30586231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>
          <a:extLst>
            <a:ext uri="{FF2B5EF4-FFF2-40B4-BE49-F238E27FC236}">
              <a16:creationId xmlns:a16="http://schemas.microsoft.com/office/drawing/2014/main" id="{A9E1A3B0-A245-83E2-7858-D7E9A81A2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6">
            <a:extLst>
              <a:ext uri="{FF2B5EF4-FFF2-40B4-BE49-F238E27FC236}">
                <a16:creationId xmlns:a16="http://schemas.microsoft.com/office/drawing/2014/main" id="{EAAF2F02-38ED-9141-A735-6CED2EA3FAA3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54245" y="1443125"/>
            <a:ext cx="8996766" cy="243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7800" lvl="1" indent="-177800" algn="l">
              <a:buFont typeface="Arial" panose="020B0604020202020204" pitchFamily="34" charset="0"/>
              <a:buChar char="•"/>
            </a:pPr>
            <a:r>
              <a:rPr lang="pt-BR" sz="1800" dirty="0"/>
              <a:t>O elemento SELECT apresenta uma lista de dados por meio do campo OPTION. Exemplo:</a:t>
            </a:r>
          </a:p>
          <a:p>
            <a:pPr marL="177800" lvl="1" indent="-177800" algn="l">
              <a:buFont typeface="Arial" panose="020B0604020202020204" pitchFamily="34" charset="0"/>
              <a:buChar char="•"/>
            </a:pPr>
            <a:endParaRPr lang="pt-BR" sz="1800" dirty="0"/>
          </a:p>
          <a:p>
            <a:pPr marL="0" lvl="1" indent="0" algn="l"/>
            <a:r>
              <a:rPr lang="pt-BR" sz="1800" dirty="0"/>
              <a:t>&lt;</a:t>
            </a:r>
            <a:r>
              <a:rPr lang="pt-BR" sz="1800" dirty="0" err="1"/>
              <a:t>select</a:t>
            </a:r>
            <a:r>
              <a:rPr lang="pt-BR" sz="1800" dirty="0"/>
              <a:t> </a:t>
            </a:r>
            <a:r>
              <a:rPr lang="pt-BR" sz="1800" dirty="0" err="1"/>
              <a:t>name</a:t>
            </a:r>
            <a:r>
              <a:rPr lang="pt-BR" sz="1800" dirty="0"/>
              <a:t>=“nome”&gt;</a:t>
            </a:r>
          </a:p>
          <a:p>
            <a:pPr marL="0" lvl="1" indent="0" algn="l"/>
            <a:r>
              <a:rPr lang="pt-BR" sz="1800" dirty="0"/>
              <a:t>	&lt;</a:t>
            </a:r>
            <a:r>
              <a:rPr lang="pt-BR" sz="1800" dirty="0" err="1"/>
              <a:t>option</a:t>
            </a:r>
            <a:r>
              <a:rPr lang="pt-BR" sz="1800" dirty="0"/>
              <a:t>&gt; Dado 1</a:t>
            </a:r>
          </a:p>
          <a:p>
            <a:pPr marL="0" lvl="1" indent="0" algn="l"/>
            <a:r>
              <a:rPr lang="pt-BR" sz="1800" dirty="0"/>
              <a:t>	&lt;</a:t>
            </a:r>
            <a:r>
              <a:rPr lang="pt-BR" sz="1800" dirty="0" err="1"/>
              <a:t>option</a:t>
            </a:r>
            <a:r>
              <a:rPr lang="pt-BR" sz="1800" dirty="0"/>
              <a:t>&gt; Dado 2</a:t>
            </a:r>
          </a:p>
          <a:p>
            <a:pPr marL="0" lvl="1" indent="0" algn="l"/>
            <a:r>
              <a:rPr lang="pt-BR" sz="1800" dirty="0"/>
              <a:t>	&lt;</a:t>
            </a:r>
            <a:r>
              <a:rPr lang="pt-BR" sz="1800" dirty="0" err="1"/>
              <a:t>option</a:t>
            </a:r>
            <a:r>
              <a:rPr lang="pt-BR" sz="1800" dirty="0"/>
              <a:t>&gt; Dado 3</a:t>
            </a:r>
          </a:p>
          <a:p>
            <a:pPr marL="0" lvl="1" indent="0" algn="l"/>
            <a:r>
              <a:rPr lang="pt-BR" sz="1800" dirty="0"/>
              <a:t>&lt;/</a:t>
            </a:r>
            <a:r>
              <a:rPr lang="pt-BR" sz="1800" dirty="0" err="1"/>
              <a:t>select</a:t>
            </a:r>
            <a:r>
              <a:rPr lang="pt-BR" sz="1800" dirty="0"/>
              <a:t>&gt;</a:t>
            </a:r>
          </a:p>
        </p:txBody>
      </p:sp>
      <p:sp>
        <p:nvSpPr>
          <p:cNvPr id="4" name="Google Shape;454;p37">
            <a:extLst>
              <a:ext uri="{FF2B5EF4-FFF2-40B4-BE49-F238E27FC236}">
                <a16:creationId xmlns:a16="http://schemas.microsoft.com/office/drawing/2014/main" id="{F687C4C8-57A7-E818-B041-A7968C461C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noProof="0" dirty="0">
                <a:solidFill>
                  <a:schemeClr val="accent4"/>
                </a:solidFill>
              </a:rPr>
              <a:t>Elementos HTML</a:t>
            </a:r>
          </a:p>
        </p:txBody>
      </p:sp>
    </p:spTree>
    <p:extLst>
      <p:ext uri="{BB962C8B-B14F-4D97-AF65-F5344CB8AC3E}">
        <p14:creationId xmlns:p14="http://schemas.microsoft.com/office/powerpoint/2010/main" val="17131125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>
          <a:extLst>
            <a:ext uri="{FF2B5EF4-FFF2-40B4-BE49-F238E27FC236}">
              <a16:creationId xmlns:a16="http://schemas.microsoft.com/office/drawing/2014/main" id="{F294EE93-17F4-EFC8-F28F-59C4C8E4F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6">
            <a:extLst>
              <a:ext uri="{FF2B5EF4-FFF2-40B4-BE49-F238E27FC236}">
                <a16:creationId xmlns:a16="http://schemas.microsoft.com/office/drawing/2014/main" id="{EAD21D8F-D3FF-AC13-BF6F-7C768660C372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54245" y="1443125"/>
            <a:ext cx="8996766" cy="243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7800" lvl="1" indent="-177800" algn="l">
              <a:buFont typeface="Arial" panose="020B0604020202020204" pitchFamily="34" charset="0"/>
              <a:buChar char="•"/>
            </a:pPr>
            <a:r>
              <a:rPr lang="pt-BR" sz="1800" dirty="0"/>
              <a:t>O elemento TEXTAREA fornece uma área com mais uma linha para entrada de texto. Exemplo: </a:t>
            </a:r>
          </a:p>
          <a:p>
            <a:pPr marL="0" lvl="1" indent="0" algn="l"/>
            <a:endParaRPr lang="pt-BR" sz="1800" dirty="0"/>
          </a:p>
          <a:p>
            <a:pPr marL="0" lvl="1" indent="0" algn="l"/>
            <a:r>
              <a:rPr lang="pt-BR" sz="1800" dirty="0"/>
              <a:t>&lt;</a:t>
            </a:r>
            <a:r>
              <a:rPr lang="pt-BR" sz="1800" dirty="0" err="1"/>
              <a:t>textarea</a:t>
            </a:r>
            <a:r>
              <a:rPr lang="pt-BR" sz="1800" dirty="0"/>
              <a:t> </a:t>
            </a:r>
            <a:r>
              <a:rPr lang="pt-BR" sz="1800" dirty="0" err="1"/>
              <a:t>cols</a:t>
            </a:r>
            <a:r>
              <a:rPr lang="pt-BR" sz="1800" dirty="0"/>
              <a:t>=“30” </a:t>
            </a:r>
            <a:r>
              <a:rPr lang="pt-BR" sz="1800" dirty="0" err="1"/>
              <a:t>rows</a:t>
            </a:r>
            <a:r>
              <a:rPr lang="pt-BR" sz="1800" dirty="0"/>
              <a:t>=“5” </a:t>
            </a:r>
            <a:r>
              <a:rPr lang="pt-BR" sz="1800" dirty="0" err="1"/>
              <a:t>name</a:t>
            </a:r>
            <a:r>
              <a:rPr lang="pt-BR" sz="1800" dirty="0"/>
              <a:t>=“</a:t>
            </a:r>
            <a:r>
              <a:rPr lang="pt-BR" sz="1800" dirty="0" err="1"/>
              <a:t>observacao</a:t>
            </a:r>
            <a:r>
              <a:rPr lang="pt-BR" sz="1800" dirty="0"/>
              <a:t>”&gt; </a:t>
            </a:r>
          </a:p>
          <a:p>
            <a:pPr marL="0" lvl="1" indent="0" algn="l"/>
            <a:r>
              <a:rPr lang="pt-BR" sz="1800" dirty="0"/>
              <a:t>	Aqui ... </a:t>
            </a:r>
          </a:p>
          <a:p>
            <a:pPr marL="0" lvl="1" indent="0" algn="l"/>
            <a:r>
              <a:rPr lang="pt-BR" sz="1800" dirty="0"/>
              <a:t>&lt;/</a:t>
            </a:r>
            <a:r>
              <a:rPr lang="pt-BR" sz="1800" dirty="0" err="1"/>
              <a:t>textarea</a:t>
            </a:r>
            <a:r>
              <a:rPr lang="pt-BR" sz="1800" dirty="0"/>
              <a:t>&gt;</a:t>
            </a:r>
          </a:p>
        </p:txBody>
      </p:sp>
      <p:sp>
        <p:nvSpPr>
          <p:cNvPr id="4" name="Google Shape;454;p37">
            <a:extLst>
              <a:ext uri="{FF2B5EF4-FFF2-40B4-BE49-F238E27FC236}">
                <a16:creationId xmlns:a16="http://schemas.microsoft.com/office/drawing/2014/main" id="{D59B4BE9-E8BF-DF40-A928-F0893AAA65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noProof="0" dirty="0">
                <a:solidFill>
                  <a:schemeClr val="accent4"/>
                </a:solidFill>
              </a:rPr>
              <a:t>Elementos HTML</a:t>
            </a:r>
          </a:p>
        </p:txBody>
      </p:sp>
    </p:spTree>
    <p:extLst>
      <p:ext uri="{BB962C8B-B14F-4D97-AF65-F5344CB8AC3E}">
        <p14:creationId xmlns:p14="http://schemas.microsoft.com/office/powerpoint/2010/main" val="16183260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>
          <a:extLst>
            <a:ext uri="{FF2B5EF4-FFF2-40B4-BE49-F238E27FC236}">
              <a16:creationId xmlns:a16="http://schemas.microsoft.com/office/drawing/2014/main" id="{969B442E-FECF-FCE2-AC2C-271B2AE1F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6">
            <a:extLst>
              <a:ext uri="{FF2B5EF4-FFF2-40B4-BE49-F238E27FC236}">
                <a16:creationId xmlns:a16="http://schemas.microsoft.com/office/drawing/2014/main" id="{D6F8B769-B929-2B64-3008-25A8FE245333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04503" y="1247614"/>
            <a:ext cx="8938757" cy="361110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7800" lvl="1" indent="-177800" algn="l">
              <a:buFont typeface="Arial" panose="020B0604020202020204" pitchFamily="34" charset="0"/>
              <a:buChar char="•"/>
            </a:pPr>
            <a:r>
              <a:rPr lang="pt-BR" sz="1800" dirty="0"/>
              <a:t>Vamos criar um formulário de inscrição em eventos. Ao final, o formulário deverá ser validado com </a:t>
            </a:r>
            <a:r>
              <a:rPr lang="pt-BR" sz="1800" dirty="0" err="1"/>
              <a:t>JavaScript</a:t>
            </a:r>
            <a:r>
              <a:rPr lang="pt-BR" sz="1800" dirty="0"/>
              <a:t> e, se todos os dados estiverem corretos, a própria página deverá exibir uma área de confirmação com as informações enviadas.</a:t>
            </a:r>
          </a:p>
          <a:p>
            <a:pPr marL="177800" lvl="1" indent="-177800" algn="l">
              <a:buFont typeface="Arial" panose="020B0604020202020204" pitchFamily="34" charset="0"/>
              <a:buChar char="•"/>
            </a:pPr>
            <a:endParaRPr lang="pt-BR" sz="1800" dirty="0"/>
          </a:p>
          <a:p>
            <a:pPr marL="0" lvl="1" indent="0" algn="l"/>
            <a:r>
              <a:rPr lang="pt-BR" sz="1800" dirty="0"/>
              <a:t>1) Crie a estrutura básica da página com um </a:t>
            </a:r>
          </a:p>
          <a:p>
            <a:pPr marL="0" lvl="1" indent="0" algn="l"/>
            <a:r>
              <a:rPr lang="pt-BR" sz="1800" dirty="0"/>
              <a:t>&lt;</a:t>
            </a:r>
            <a:r>
              <a:rPr lang="pt-BR" sz="1800" dirty="0" err="1"/>
              <a:t>form</a:t>
            </a:r>
            <a:r>
              <a:rPr lang="pt-BR" sz="1800" dirty="0"/>
              <a:t> id="</a:t>
            </a:r>
            <a:r>
              <a:rPr lang="pt-BR" sz="1800" dirty="0" err="1"/>
              <a:t>formInscricao</a:t>
            </a:r>
            <a:r>
              <a:rPr lang="pt-BR" sz="1800" dirty="0"/>
              <a:t>"&gt;</a:t>
            </a:r>
          </a:p>
          <a:p>
            <a:pPr marL="0" lvl="1" indent="0" algn="l"/>
            <a:endParaRPr lang="pt-BR" sz="1800" dirty="0"/>
          </a:p>
          <a:p>
            <a:pPr marL="0" lvl="1" indent="0" algn="l"/>
            <a:r>
              <a:rPr lang="pt-BR" sz="1800" dirty="0"/>
              <a:t>Adicione um campo de texto para nome completo e e-mail.</a:t>
            </a:r>
          </a:p>
          <a:p>
            <a:pPr marL="0" lvl="1" indent="0" algn="l"/>
            <a:r>
              <a:rPr lang="pt-BR" sz="1800" dirty="0"/>
              <a:t>Adicione botão de </a:t>
            </a:r>
            <a:r>
              <a:rPr lang="pt-BR" sz="1800" b="1" dirty="0" err="1"/>
              <a:t>submit</a:t>
            </a:r>
            <a:r>
              <a:rPr lang="pt-BR" sz="1800" dirty="0"/>
              <a:t> e </a:t>
            </a:r>
            <a:r>
              <a:rPr lang="pt-BR" sz="1800" b="1" dirty="0"/>
              <a:t>reset</a:t>
            </a:r>
            <a:r>
              <a:rPr lang="pt-BR" sz="1800" dirty="0"/>
              <a:t>.</a:t>
            </a:r>
          </a:p>
          <a:p>
            <a:pPr marL="0" lvl="1" indent="0" algn="l"/>
            <a:r>
              <a:rPr lang="pt-BR" sz="1800" dirty="0"/>
              <a:t>Capture o envio do formulário com </a:t>
            </a:r>
            <a:r>
              <a:rPr lang="pt-BR" sz="1800" dirty="0" err="1"/>
              <a:t>submit</a:t>
            </a:r>
            <a:r>
              <a:rPr lang="pt-BR" sz="1800" dirty="0"/>
              <a:t> e use </a:t>
            </a:r>
            <a:r>
              <a:rPr lang="pt-BR" sz="1800" dirty="0" err="1"/>
              <a:t>preventDefault</a:t>
            </a:r>
            <a:r>
              <a:rPr lang="pt-BR" sz="1800" dirty="0"/>
              <a:t>()</a:t>
            </a:r>
          </a:p>
          <a:p>
            <a:pPr marL="0" lvl="1" indent="0" algn="l"/>
            <a:r>
              <a:rPr lang="pt-BR" sz="1800" dirty="0"/>
              <a:t>Exiba no console o valor do </a:t>
            </a:r>
            <a:r>
              <a:rPr lang="pt-BR" sz="1800" b="1" dirty="0"/>
              <a:t>nome</a:t>
            </a:r>
            <a:r>
              <a:rPr lang="pt-BR" sz="1800" dirty="0"/>
              <a:t> e </a:t>
            </a:r>
            <a:r>
              <a:rPr lang="pt-BR" sz="1800" b="1" dirty="0"/>
              <a:t>e-mail</a:t>
            </a:r>
            <a:r>
              <a:rPr lang="pt-BR" sz="1800" dirty="0"/>
              <a:t>.</a:t>
            </a:r>
          </a:p>
          <a:p>
            <a:pPr marL="0" lvl="1" indent="0" algn="l"/>
            <a:r>
              <a:rPr lang="pt-BR" sz="1800" dirty="0"/>
              <a:t>Valide: nome e </a:t>
            </a:r>
            <a:r>
              <a:rPr lang="pt-BR" sz="1800" dirty="0" err="1"/>
              <a:t>email</a:t>
            </a:r>
            <a:r>
              <a:rPr lang="pt-BR" sz="1800" dirty="0"/>
              <a:t> não podem estar vazios.</a:t>
            </a:r>
          </a:p>
        </p:txBody>
      </p:sp>
      <p:sp>
        <p:nvSpPr>
          <p:cNvPr id="4" name="Google Shape;454;p37">
            <a:extLst>
              <a:ext uri="{FF2B5EF4-FFF2-40B4-BE49-F238E27FC236}">
                <a16:creationId xmlns:a16="http://schemas.microsoft.com/office/drawing/2014/main" id="{AE56B0BE-FC52-FB88-73DC-3DF4666561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dirty="0">
                <a:solidFill>
                  <a:schemeClr val="accent4"/>
                </a:solidFill>
              </a:rPr>
              <a:t>Exercícios</a:t>
            </a:r>
            <a:endParaRPr lang="pt-BR" noProof="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23038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>
          <a:extLst>
            <a:ext uri="{FF2B5EF4-FFF2-40B4-BE49-F238E27FC236}">
              <a16:creationId xmlns:a16="http://schemas.microsoft.com/office/drawing/2014/main" id="{4DCDCF23-9297-DAEF-46E4-AEDC3FEF0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6">
            <a:extLst>
              <a:ext uri="{FF2B5EF4-FFF2-40B4-BE49-F238E27FC236}">
                <a16:creationId xmlns:a16="http://schemas.microsoft.com/office/drawing/2014/main" id="{F7B5F558-DF3F-32B7-1F95-C0A62AAFAC26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-1" y="1247614"/>
            <a:ext cx="9043261" cy="361110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1" indent="0" algn="l"/>
            <a:r>
              <a:rPr lang="pt-BR" sz="1800" dirty="0"/>
              <a:t>2) Adicione um campo de </a:t>
            </a:r>
            <a:r>
              <a:rPr lang="pt-BR" sz="1800" b="1" dirty="0"/>
              <a:t>senha</a:t>
            </a:r>
            <a:r>
              <a:rPr lang="pt-BR" sz="1800" dirty="0"/>
              <a:t>. Valide: senha deve ter pelo menos 6 caracteres.</a:t>
            </a:r>
          </a:p>
          <a:p>
            <a:pPr marL="0" lvl="1" indent="0" algn="l"/>
            <a:endParaRPr lang="pt-BR" sz="1800" dirty="0"/>
          </a:p>
          <a:p>
            <a:pPr marL="0" lvl="1" indent="0" algn="l"/>
            <a:r>
              <a:rPr lang="pt-BR" sz="1800" dirty="0"/>
              <a:t>3) Adicione um campo de data de nascimento. Calcule a idade. Ela deve ser maior ou igual a 16.</a:t>
            </a:r>
          </a:p>
          <a:p>
            <a:pPr marL="0" lvl="1" indent="0" algn="l"/>
            <a:endParaRPr lang="pt-BR" sz="1800" dirty="0"/>
          </a:p>
          <a:p>
            <a:pPr marL="0" lvl="1" indent="0" algn="l"/>
            <a:r>
              <a:rPr lang="pt-BR" sz="1800" dirty="0"/>
              <a:t>4) Adicione um campo de </a:t>
            </a:r>
            <a:r>
              <a:rPr lang="pt-BR" sz="1800" b="1" dirty="0"/>
              <a:t>horário preferido</a:t>
            </a:r>
            <a:r>
              <a:rPr lang="pt-BR" sz="1800" dirty="0"/>
              <a:t>.</a:t>
            </a:r>
          </a:p>
          <a:p>
            <a:pPr marL="0" lvl="1" indent="0" algn="l"/>
            <a:endParaRPr lang="pt-BR" sz="1800" dirty="0"/>
          </a:p>
          <a:p>
            <a:pPr marL="0" lvl="1" indent="0" algn="l"/>
            <a:r>
              <a:rPr lang="pt-BR" sz="1800" dirty="0"/>
              <a:t>5) Adicione um campo de </a:t>
            </a:r>
            <a:r>
              <a:rPr lang="pt-BR" sz="1800" b="1" dirty="0"/>
              <a:t>URL (GitHub ou portfólio)</a:t>
            </a:r>
            <a:r>
              <a:rPr lang="pt-BR" sz="1800" dirty="0"/>
              <a:t>. Valide se a </a:t>
            </a:r>
            <a:r>
              <a:rPr lang="pt-BR" sz="1800" dirty="0" err="1"/>
              <a:t>url</a:t>
            </a:r>
            <a:r>
              <a:rPr lang="pt-BR" sz="1800" dirty="0"/>
              <a:t> começa </a:t>
            </a:r>
            <a:r>
              <a:rPr lang="pt-BR" sz="1800"/>
              <a:t>com “https://” .</a:t>
            </a:r>
            <a:endParaRPr lang="pt-BR" sz="1800" dirty="0"/>
          </a:p>
          <a:p>
            <a:pPr marL="0" lvl="1" indent="0" algn="l"/>
            <a:endParaRPr lang="pt-BR" sz="1800" dirty="0"/>
          </a:p>
          <a:p>
            <a:pPr marL="0" lvl="1" indent="0" algn="l"/>
            <a:r>
              <a:rPr lang="pt-BR" sz="1800" dirty="0"/>
              <a:t>6) Adicione um </a:t>
            </a:r>
            <a:r>
              <a:rPr lang="pt-BR" sz="1800" b="1" dirty="0" err="1"/>
              <a:t>select</a:t>
            </a:r>
            <a:r>
              <a:rPr lang="pt-BR" sz="1800" dirty="0"/>
              <a:t> para curso com pelo menos 3 opções. Valide: curso deve ser selecionado.</a:t>
            </a:r>
          </a:p>
        </p:txBody>
      </p:sp>
      <p:sp>
        <p:nvSpPr>
          <p:cNvPr id="4" name="Google Shape;454;p37">
            <a:extLst>
              <a:ext uri="{FF2B5EF4-FFF2-40B4-BE49-F238E27FC236}">
                <a16:creationId xmlns:a16="http://schemas.microsoft.com/office/drawing/2014/main" id="{4F026B2F-E8EB-E0F3-4D42-408CA00D81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dirty="0">
                <a:solidFill>
                  <a:schemeClr val="accent4"/>
                </a:solidFill>
              </a:rPr>
              <a:t>Exercícios</a:t>
            </a:r>
            <a:endParaRPr lang="pt-BR" noProof="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47303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>
          <a:extLst>
            <a:ext uri="{FF2B5EF4-FFF2-40B4-BE49-F238E27FC236}">
              <a16:creationId xmlns:a16="http://schemas.microsoft.com/office/drawing/2014/main" id="{9FBC823E-F784-39CE-8272-860CAB61D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6">
            <a:extLst>
              <a:ext uri="{FF2B5EF4-FFF2-40B4-BE49-F238E27FC236}">
                <a16:creationId xmlns:a16="http://schemas.microsoft.com/office/drawing/2014/main" id="{FE8CC6C0-670F-A819-25CD-1D9FA32E6834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-1" y="1105990"/>
            <a:ext cx="9043261" cy="37527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1" indent="0" algn="l"/>
            <a:r>
              <a:rPr lang="pt-BR" sz="1800" dirty="0"/>
              <a:t>7) Adicione botões </a:t>
            </a:r>
            <a:r>
              <a:rPr lang="pt-BR" sz="1800" b="1" dirty="0"/>
              <a:t>radio</a:t>
            </a:r>
            <a:r>
              <a:rPr lang="pt-BR" sz="1800" dirty="0"/>
              <a:t> para turno (manhã/noite). Valide: um turno deve ser selecionado.</a:t>
            </a:r>
          </a:p>
          <a:p>
            <a:pPr marL="0" lvl="1" indent="0" algn="l"/>
            <a:endParaRPr lang="pt-BR" sz="1800" dirty="0"/>
          </a:p>
          <a:p>
            <a:pPr marL="0" lvl="1" indent="0" algn="l"/>
            <a:r>
              <a:rPr lang="pt-BR" sz="1800" dirty="0"/>
              <a:t>8) Adicione </a:t>
            </a:r>
            <a:r>
              <a:rPr lang="pt-BR" sz="1800" b="1" dirty="0" err="1"/>
              <a:t>checkboxes</a:t>
            </a:r>
            <a:r>
              <a:rPr lang="pt-BR" sz="1800" dirty="0"/>
              <a:t> para interesses (HTML, CSS, JS, etc.). Valide: pelo menos um interesse deve ser marcado.</a:t>
            </a:r>
          </a:p>
          <a:p>
            <a:pPr marL="0" lvl="1" indent="0" algn="l"/>
            <a:endParaRPr lang="pt-BR" sz="1800" dirty="0"/>
          </a:p>
          <a:p>
            <a:pPr marL="0" lvl="1" indent="0" algn="l"/>
            <a:r>
              <a:rPr lang="pt-BR" sz="1800" dirty="0"/>
              <a:t>9) Adicione um </a:t>
            </a:r>
            <a:r>
              <a:rPr lang="pt-BR" sz="1800" b="1" dirty="0" err="1"/>
              <a:t>textarea</a:t>
            </a:r>
            <a:r>
              <a:rPr lang="pt-BR" sz="1800" dirty="0"/>
              <a:t> para motivação. Valide: motivação deve ter no mínimo 20 caracteres.</a:t>
            </a:r>
          </a:p>
          <a:p>
            <a:pPr marL="0" lvl="1" indent="0" algn="l"/>
            <a:endParaRPr lang="pt-BR" sz="1800" dirty="0"/>
          </a:p>
          <a:p>
            <a:pPr marL="0" lvl="1" indent="0" algn="l"/>
            <a:r>
              <a:rPr lang="pt-BR" sz="1800" dirty="0"/>
              <a:t>10) Adicione um </a:t>
            </a:r>
            <a:r>
              <a:rPr lang="pt-BR" sz="1800" dirty="0" err="1"/>
              <a:t>checkbox</a:t>
            </a:r>
            <a:r>
              <a:rPr lang="pt-BR" sz="1800" dirty="0"/>
              <a:t> de </a:t>
            </a:r>
            <a:r>
              <a:rPr lang="pt-BR" sz="1800" b="1" dirty="0"/>
              <a:t>aceite dos termos</a:t>
            </a:r>
            <a:r>
              <a:rPr lang="pt-BR" sz="1800" dirty="0"/>
              <a:t>. Valide: termos devem estar aceitos.</a:t>
            </a:r>
          </a:p>
          <a:p>
            <a:pPr marL="0" lvl="1" indent="0" algn="l"/>
            <a:endParaRPr lang="pt-BR" sz="1800" dirty="0"/>
          </a:p>
          <a:p>
            <a:pPr marL="0" lvl="1" indent="0" algn="l"/>
            <a:r>
              <a:rPr lang="pt-BR" sz="1800" dirty="0"/>
              <a:t>11) Exiba mensagens de erro abaixo de cada campo inválido. Utilize abaixo do input um &lt;</a:t>
            </a:r>
            <a:r>
              <a:rPr lang="pt-BR" sz="1800" dirty="0" err="1"/>
              <a:t>small</a:t>
            </a:r>
            <a:r>
              <a:rPr lang="pt-BR" sz="1800" dirty="0"/>
              <a:t> id=“</a:t>
            </a:r>
            <a:r>
              <a:rPr lang="pt-BR" sz="1800" dirty="0" err="1"/>
              <a:t>erroCampo</a:t>
            </a:r>
            <a:r>
              <a:rPr lang="pt-BR" sz="1800" dirty="0"/>
              <a:t>"&gt;&lt;/</a:t>
            </a:r>
            <a:r>
              <a:rPr lang="pt-BR" sz="1800" dirty="0" err="1"/>
              <a:t>small</a:t>
            </a:r>
            <a:r>
              <a:rPr lang="pt-BR" sz="1800" dirty="0"/>
              <a:t>&gt;.</a:t>
            </a:r>
          </a:p>
        </p:txBody>
      </p:sp>
      <p:sp>
        <p:nvSpPr>
          <p:cNvPr id="4" name="Google Shape;454;p37">
            <a:extLst>
              <a:ext uri="{FF2B5EF4-FFF2-40B4-BE49-F238E27FC236}">
                <a16:creationId xmlns:a16="http://schemas.microsoft.com/office/drawing/2014/main" id="{17738A08-FEE0-7B20-0550-DD25A37448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dirty="0">
                <a:solidFill>
                  <a:schemeClr val="accent4"/>
                </a:solidFill>
              </a:rPr>
              <a:t>Exercícios</a:t>
            </a:r>
            <a:endParaRPr lang="pt-BR" noProof="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58903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>
          <a:extLst>
            <a:ext uri="{FF2B5EF4-FFF2-40B4-BE49-F238E27FC236}">
              <a16:creationId xmlns:a16="http://schemas.microsoft.com/office/drawing/2014/main" id="{F84EA21B-7EC3-03D7-4A79-2A61A7443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6">
            <a:extLst>
              <a:ext uri="{FF2B5EF4-FFF2-40B4-BE49-F238E27FC236}">
                <a16:creationId xmlns:a16="http://schemas.microsoft.com/office/drawing/2014/main" id="{EF055E54-495C-5D69-F682-5EF2E089214F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-1" y="1247614"/>
            <a:ext cx="9043261" cy="361110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1" indent="0" algn="l"/>
            <a:r>
              <a:rPr lang="pt-BR" sz="1800" dirty="0"/>
              <a:t>12) Se tudo estiver válido, esconda o formulário.</a:t>
            </a:r>
          </a:p>
          <a:p>
            <a:pPr marL="0" lvl="1" indent="0" algn="l"/>
            <a:endParaRPr lang="pt-BR" sz="1800" dirty="0"/>
          </a:p>
          <a:p>
            <a:pPr marL="0" lvl="1" indent="0" algn="l"/>
            <a:r>
              <a:rPr lang="pt-BR" sz="1800" dirty="0"/>
              <a:t>13) Exiba na página todos os dados preenchidos pelo usuário.</a:t>
            </a:r>
          </a:p>
        </p:txBody>
      </p:sp>
      <p:sp>
        <p:nvSpPr>
          <p:cNvPr id="4" name="Google Shape;454;p37">
            <a:extLst>
              <a:ext uri="{FF2B5EF4-FFF2-40B4-BE49-F238E27FC236}">
                <a16:creationId xmlns:a16="http://schemas.microsoft.com/office/drawing/2014/main" id="{7A9E8A8F-DE0F-0EC4-4925-450EE4F580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dirty="0">
                <a:solidFill>
                  <a:schemeClr val="accent4"/>
                </a:solidFill>
              </a:rPr>
              <a:t>Exercícios</a:t>
            </a:r>
            <a:endParaRPr lang="pt-BR" noProof="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5655446"/>
      </p:ext>
    </p:extLst>
  </p:cSld>
  <p:clrMapOvr>
    <a:masterClrMapping/>
  </p:clrMapOvr>
</p:sld>
</file>

<file path=ppt/theme/theme1.xml><?xml version="1.0" encoding="utf-8"?>
<a:theme xmlns:a="http://schemas.openxmlformats.org/drawingml/2006/main" name="Introduction to Java Programming for High School by Slidesgo">
  <a:themeElements>
    <a:clrScheme name="Simple Light">
      <a:dk1>
        <a:srgbClr val="E7E7E7"/>
      </a:dk1>
      <a:lt1>
        <a:srgbClr val="10111A"/>
      </a:lt1>
      <a:dk2>
        <a:srgbClr val="FD4A4A"/>
      </a:dk2>
      <a:lt2>
        <a:srgbClr val="EC7955"/>
      </a:lt2>
      <a:accent1>
        <a:srgbClr val="E81A81"/>
      </a:accent1>
      <a:accent2>
        <a:srgbClr val="94EE6B"/>
      </a:accent2>
      <a:accent3>
        <a:srgbClr val="4CAE97"/>
      </a:accent3>
      <a:accent4>
        <a:srgbClr val="BD64B5"/>
      </a:accent4>
      <a:accent5>
        <a:srgbClr val="FFFF99"/>
      </a:accent5>
      <a:accent6>
        <a:srgbClr val="2C293A"/>
      </a:accent6>
      <a:hlink>
        <a:srgbClr val="F8F8F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1850</TotalTime>
  <Words>1026</Words>
  <Application>Microsoft Office PowerPoint</Application>
  <PresentationFormat>Apresentação na tela (16:9)</PresentationFormat>
  <Paragraphs>88</Paragraphs>
  <Slides>13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8" baseType="lpstr">
      <vt:lpstr>Comfortaa</vt:lpstr>
      <vt:lpstr>Arial</vt:lpstr>
      <vt:lpstr>Source Code Pro</vt:lpstr>
      <vt:lpstr>Fira Code</vt:lpstr>
      <vt:lpstr>Introduction to Java Programming for High School by Slidesgo</vt:lpstr>
      <vt:lpstr>Programação  Frontend  Formulários</vt:lpstr>
      <vt:lpstr>Formulários HTML</vt:lpstr>
      <vt:lpstr>Formulários HTML</vt:lpstr>
      <vt:lpstr>Formulários HTML com JS</vt:lpstr>
      <vt:lpstr>Elementos HTML</vt:lpstr>
      <vt:lpstr>Elementos HTML</vt:lpstr>
      <vt:lpstr>Elementos HTML</vt:lpstr>
      <vt:lpstr>Elementos HTML</vt:lpstr>
      <vt:lpstr>Elementos HTML</vt:lpstr>
      <vt:lpstr>Exercícios</vt:lpstr>
      <vt:lpstr>Exercícios</vt:lpstr>
      <vt:lpstr>Exercícios</vt:lpstr>
      <vt:lpstr>Exercícios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Flávio Mota</cp:lastModifiedBy>
  <cp:revision>71</cp:revision>
  <dcterms:modified xsi:type="dcterms:W3CDTF">2026-03-25T15:26:27Z</dcterms:modified>
</cp:coreProperties>
</file>